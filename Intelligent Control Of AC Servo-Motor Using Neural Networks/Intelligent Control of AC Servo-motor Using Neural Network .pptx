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38"/>
    <p:sldId id="257" r:id="rId39"/>
    <p:sldId id="258" r:id="rId40"/>
    <p:sldId id="259" r:id="rId41"/>
    <p:sldId id="260" r:id="rId42"/>
    <p:sldId id="261" r:id="rId43"/>
    <p:sldId id="262" r:id="rId44"/>
    <p:sldId id="263" r:id="rId45"/>
    <p:sldId id="264" r:id="rId46"/>
    <p:sldId id="265" r:id="rId47"/>
    <p:sldId id="266" r:id="rId48"/>
    <p:sldId id="267" r:id="rId49"/>
    <p:sldId id="268" r:id="rId50"/>
    <p:sldId id="269" r:id="rId51"/>
    <p:sldId id="270" r:id="rId52"/>
    <p:sldId id="271" r:id="rId53"/>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Lato" charset="1" panose="020F0502020204030203"/>
      <p:regular r:id="rId10"/>
    </p:embeddedFont>
    <p:embeddedFont>
      <p:font typeface="Lato Bold" charset="1" panose="020F0502020204030203"/>
      <p:regular r:id="rId11"/>
    </p:embeddedFont>
    <p:embeddedFont>
      <p:font typeface="Lato Italics" charset="1" panose="020F0502020204030203"/>
      <p:regular r:id="rId12"/>
    </p:embeddedFont>
    <p:embeddedFont>
      <p:font typeface="Lato Bold Italics" charset="1" panose="020F0502020204030203"/>
      <p:regular r:id="rId13"/>
    </p:embeddedFont>
    <p:embeddedFont>
      <p:font typeface="Canva Sans" charset="1" panose="020B0503030501040103"/>
      <p:regular r:id="rId14"/>
    </p:embeddedFont>
    <p:embeddedFont>
      <p:font typeface="Canva Sans Bold" charset="1" panose="020B0803030501040103"/>
      <p:regular r:id="rId15"/>
    </p:embeddedFont>
    <p:embeddedFont>
      <p:font typeface="Canva Sans Italics" charset="1" panose="020B0503030501040103"/>
      <p:regular r:id="rId16"/>
    </p:embeddedFont>
    <p:embeddedFont>
      <p:font typeface="Canva Sans Bold Italics" charset="1" panose="020B0803030501040103"/>
      <p:regular r:id="rId17"/>
    </p:embeddedFont>
    <p:embeddedFont>
      <p:font typeface="Canva Sans Medium" charset="1" panose="020B0603030501040103"/>
      <p:regular r:id="rId18"/>
    </p:embeddedFont>
    <p:embeddedFont>
      <p:font typeface="Canva Sans Medium Italics" charset="1" panose="020B0603030501040103"/>
      <p:regular r:id="rId19"/>
    </p:embeddedFont>
    <p:embeddedFont>
      <p:font typeface="Poppins" charset="1" panose="00000500000000000000"/>
      <p:regular r:id="rId20"/>
    </p:embeddedFont>
    <p:embeddedFont>
      <p:font typeface="Poppins Bold" charset="1" panose="00000800000000000000"/>
      <p:regular r:id="rId21"/>
    </p:embeddedFont>
    <p:embeddedFont>
      <p:font typeface="Poppins Italics" charset="1" panose="00000500000000000000"/>
      <p:regular r:id="rId22"/>
    </p:embeddedFont>
    <p:embeddedFont>
      <p:font typeface="Poppins Bold Italics" charset="1" panose="00000800000000000000"/>
      <p:regular r:id="rId23"/>
    </p:embeddedFont>
    <p:embeddedFont>
      <p:font typeface="Poppins Thin" charset="1" panose="00000300000000000000"/>
      <p:regular r:id="rId24"/>
    </p:embeddedFont>
    <p:embeddedFont>
      <p:font typeface="Poppins Thin Italics" charset="1" panose="00000300000000000000"/>
      <p:regular r:id="rId25"/>
    </p:embeddedFont>
    <p:embeddedFont>
      <p:font typeface="Poppins Extra-Light" charset="1" panose="00000300000000000000"/>
      <p:regular r:id="rId26"/>
    </p:embeddedFont>
    <p:embeddedFont>
      <p:font typeface="Poppins Extra-Light Italics" charset="1" panose="00000300000000000000"/>
      <p:regular r:id="rId27"/>
    </p:embeddedFont>
    <p:embeddedFont>
      <p:font typeface="Poppins Light" charset="1" panose="00000400000000000000"/>
      <p:regular r:id="rId28"/>
    </p:embeddedFont>
    <p:embeddedFont>
      <p:font typeface="Poppins Light Italics" charset="1" panose="00000400000000000000"/>
      <p:regular r:id="rId29"/>
    </p:embeddedFont>
    <p:embeddedFont>
      <p:font typeface="Poppins Medium" charset="1" panose="00000600000000000000"/>
      <p:regular r:id="rId30"/>
    </p:embeddedFont>
    <p:embeddedFont>
      <p:font typeface="Poppins Medium Italics" charset="1" panose="00000600000000000000"/>
      <p:regular r:id="rId31"/>
    </p:embeddedFont>
    <p:embeddedFont>
      <p:font typeface="Poppins Semi-Bold" charset="1" panose="00000700000000000000"/>
      <p:regular r:id="rId32"/>
    </p:embeddedFont>
    <p:embeddedFont>
      <p:font typeface="Poppins Semi-Bold Italics" charset="1" panose="00000700000000000000"/>
      <p:regular r:id="rId33"/>
    </p:embeddedFont>
    <p:embeddedFont>
      <p:font typeface="Poppins Ultra-Bold" charset="1" panose="00000900000000000000"/>
      <p:regular r:id="rId34"/>
    </p:embeddedFont>
    <p:embeddedFont>
      <p:font typeface="Poppins Ultra-Bold Italics" charset="1" panose="00000900000000000000"/>
      <p:regular r:id="rId35"/>
    </p:embeddedFont>
    <p:embeddedFont>
      <p:font typeface="Poppins Heavy" charset="1" panose="00000A00000000000000"/>
      <p:regular r:id="rId36"/>
    </p:embeddedFont>
    <p:embeddedFont>
      <p:font typeface="Poppins Heavy Italics" charset="1" panose="00000A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slides/slide1.xml" Type="http://schemas.openxmlformats.org/officeDocument/2006/relationships/slide"/><Relationship Id="rId39" Target="slides/slide2.xml" Type="http://schemas.openxmlformats.org/officeDocument/2006/relationships/slide"/><Relationship Id="rId4" Target="theme/theme1.xml" Type="http://schemas.openxmlformats.org/officeDocument/2006/relationships/theme"/><Relationship Id="rId40" Target="slides/slide3.xml" Type="http://schemas.openxmlformats.org/officeDocument/2006/relationships/slide"/><Relationship Id="rId41" Target="slides/slide4.xml" Type="http://schemas.openxmlformats.org/officeDocument/2006/relationships/slide"/><Relationship Id="rId42" Target="slides/slide5.xml" Type="http://schemas.openxmlformats.org/officeDocument/2006/relationships/slide"/><Relationship Id="rId43" Target="slides/slide6.xml" Type="http://schemas.openxmlformats.org/officeDocument/2006/relationships/slide"/><Relationship Id="rId44" Target="slides/slide7.xml" Type="http://schemas.openxmlformats.org/officeDocument/2006/relationships/slide"/><Relationship Id="rId45" Target="slides/slide8.xml" Type="http://schemas.openxmlformats.org/officeDocument/2006/relationships/slide"/><Relationship Id="rId46" Target="slides/slide9.xml" Type="http://schemas.openxmlformats.org/officeDocument/2006/relationships/slide"/><Relationship Id="rId47" Target="slides/slide10.xml" Type="http://schemas.openxmlformats.org/officeDocument/2006/relationships/slide"/><Relationship Id="rId48" Target="slides/slide11.xml" Type="http://schemas.openxmlformats.org/officeDocument/2006/relationships/slide"/><Relationship Id="rId49" Target="slides/slide12.xml" Type="http://schemas.openxmlformats.org/officeDocument/2006/relationships/slide"/><Relationship Id="rId5" Target="tableStyles.xml" Type="http://schemas.openxmlformats.org/officeDocument/2006/relationships/tableStyles"/><Relationship Id="rId50" Target="slides/slide13.xml" Type="http://schemas.openxmlformats.org/officeDocument/2006/relationships/slide"/><Relationship Id="rId51" Target="slides/slide14.xml" Type="http://schemas.openxmlformats.org/officeDocument/2006/relationships/slide"/><Relationship Id="rId52" Target="slides/slide15.xml" Type="http://schemas.openxmlformats.org/officeDocument/2006/relationships/slide"/><Relationship Id="rId53" Target="slides/slide16.xml" Type="http://schemas.openxmlformats.org/officeDocument/2006/relationships/slide"/><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5004959" y="1860459"/>
            <a:ext cx="6566081" cy="6566081"/>
            <a:chOff x="0" y="0"/>
            <a:chExt cx="1913890" cy="1913890"/>
          </a:xfrm>
        </p:grpSpPr>
        <p:sp>
          <p:nvSpPr>
            <p:cNvPr name="Freeform 3" id="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4" id="4"/>
          <p:cNvGrpSpPr/>
          <p:nvPr/>
        </p:nvGrpSpPr>
        <p:grpSpPr>
          <a:xfrm rot="2700000">
            <a:off x="15361560" y="2217060"/>
            <a:ext cx="5852880" cy="5852880"/>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6" id="6"/>
          <p:cNvGrpSpPr/>
          <p:nvPr/>
        </p:nvGrpSpPr>
        <p:grpSpPr>
          <a:xfrm rot="2700000">
            <a:off x="11143419" y="8163269"/>
            <a:ext cx="6164339" cy="6164339"/>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sp>
        <p:nvSpPr>
          <p:cNvPr name="TextBox 8" id="8"/>
          <p:cNvSpPr txBox="true"/>
          <p:nvPr/>
        </p:nvSpPr>
        <p:spPr>
          <a:xfrm rot="0">
            <a:off x="1028700" y="3136042"/>
            <a:ext cx="12616379" cy="4194842"/>
          </a:xfrm>
          <a:prstGeom prst="rect">
            <a:avLst/>
          </a:prstGeom>
        </p:spPr>
        <p:txBody>
          <a:bodyPr anchor="t" rtlCol="false" tIns="0" lIns="0" bIns="0" rIns="0">
            <a:spAutoFit/>
          </a:bodyPr>
          <a:lstStyle/>
          <a:p>
            <a:pPr algn="l">
              <a:lnSpc>
                <a:spcPts val="8086"/>
              </a:lnSpc>
            </a:pPr>
            <a:r>
              <a:rPr lang="en-US" sz="7701" spc="385">
                <a:solidFill>
                  <a:srgbClr val="2B4A9D"/>
                </a:solidFill>
                <a:latin typeface="Poppins Heavy"/>
              </a:rPr>
              <a:t>INTELLIGENT CONTROL OF AC SERVO-MOTOR USING NEURAL NETWORKS</a:t>
            </a:r>
            <a:r>
              <a:rPr lang="en-US" sz="7701" spc="385">
                <a:solidFill>
                  <a:srgbClr val="2B4A9D"/>
                </a:solidFill>
                <a:latin typeface="Poppins Heavy"/>
              </a:rPr>
              <a:t> </a:t>
            </a:r>
          </a:p>
        </p:txBody>
      </p:sp>
      <p:sp>
        <p:nvSpPr>
          <p:cNvPr name="TextBox 9" id="9"/>
          <p:cNvSpPr txBox="true"/>
          <p:nvPr/>
        </p:nvSpPr>
        <p:spPr>
          <a:xfrm rot="0">
            <a:off x="1028700" y="8331956"/>
            <a:ext cx="13464560" cy="1693131"/>
          </a:xfrm>
          <a:prstGeom prst="rect">
            <a:avLst/>
          </a:prstGeom>
        </p:spPr>
        <p:txBody>
          <a:bodyPr anchor="t" rtlCol="false" tIns="0" lIns="0" bIns="0" rIns="0">
            <a:spAutoFit/>
          </a:bodyPr>
          <a:lstStyle/>
          <a:p>
            <a:pPr algn="l">
              <a:lnSpc>
                <a:spcPts val="4482"/>
              </a:lnSpc>
            </a:pPr>
            <a:r>
              <a:rPr lang="en-US" sz="3201" spc="320">
                <a:solidFill>
                  <a:srgbClr val="000000"/>
                </a:solidFill>
                <a:latin typeface="Lato"/>
              </a:rPr>
              <a:t>ALI AYMAN </a:t>
            </a:r>
          </a:p>
          <a:p>
            <a:pPr algn="l">
              <a:lnSpc>
                <a:spcPts val="4482"/>
              </a:lnSpc>
            </a:pPr>
            <a:r>
              <a:rPr lang="en-US" sz="3201" spc="320">
                <a:solidFill>
                  <a:srgbClr val="000000"/>
                </a:solidFill>
                <a:latin typeface="Lato"/>
              </a:rPr>
              <a:t>SALMA ESSAM </a:t>
            </a:r>
          </a:p>
          <a:p>
            <a:pPr algn="l">
              <a:lnSpc>
                <a:spcPts val="4482"/>
              </a:lnSpc>
            </a:pPr>
          </a:p>
        </p:txBody>
      </p:sp>
      <p:sp>
        <p:nvSpPr>
          <p:cNvPr name="Freeform 10" id="10"/>
          <p:cNvSpPr/>
          <p:nvPr/>
        </p:nvSpPr>
        <p:spPr>
          <a:xfrm flipH="false" flipV="false" rot="0">
            <a:off x="-4134433" y="1004889"/>
            <a:ext cx="12993464" cy="2102579"/>
          </a:xfrm>
          <a:custGeom>
            <a:avLst/>
            <a:gdLst/>
            <a:ahLst/>
            <a:cxnLst/>
            <a:rect r="r" b="b" t="t" l="l"/>
            <a:pathLst>
              <a:path h="2102579" w="12993464">
                <a:moveTo>
                  <a:pt x="0" y="0"/>
                </a:moveTo>
                <a:lnTo>
                  <a:pt x="12993465" y="0"/>
                </a:lnTo>
                <a:lnTo>
                  <a:pt x="12993465" y="2102578"/>
                </a:lnTo>
                <a:lnTo>
                  <a:pt x="0" y="2102578"/>
                </a:lnTo>
                <a:lnTo>
                  <a:pt x="0" y="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0" y="0"/>
            <a:ext cx="541602" cy="10287000"/>
            <a:chOff x="0" y="0"/>
            <a:chExt cx="157867" cy="2998468"/>
          </a:xfrm>
        </p:grpSpPr>
        <p:sp>
          <p:nvSpPr>
            <p:cNvPr name="Freeform 12" id="12"/>
            <p:cNvSpPr/>
            <p:nvPr/>
          </p:nvSpPr>
          <p:spPr>
            <a:xfrm flipH="false" flipV="false" rot="0">
              <a:off x="0" y="0"/>
              <a:ext cx="157867" cy="2998468"/>
            </a:xfrm>
            <a:custGeom>
              <a:avLst/>
              <a:gdLst/>
              <a:ahLst/>
              <a:cxnLst/>
              <a:rect r="r" b="b" t="t" l="l"/>
              <a:pathLst>
                <a:path h="2998468" w="157867">
                  <a:moveTo>
                    <a:pt x="0" y="0"/>
                  </a:moveTo>
                  <a:lnTo>
                    <a:pt x="157867" y="0"/>
                  </a:lnTo>
                  <a:lnTo>
                    <a:pt x="157867" y="2998468"/>
                  </a:lnTo>
                  <a:lnTo>
                    <a:pt x="0" y="2998468"/>
                  </a:lnTo>
                  <a:close/>
                </a:path>
              </a:pathLst>
            </a:custGeom>
            <a:solidFill>
              <a:srgbClr val="2B4A9D"/>
            </a:solidFill>
          </p:spPr>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91069" y="1028700"/>
            <a:ext cx="2396931" cy="9154697"/>
            <a:chOff x="0" y="0"/>
            <a:chExt cx="874407" cy="3339658"/>
          </a:xfrm>
        </p:grpSpPr>
        <p:sp>
          <p:nvSpPr>
            <p:cNvPr name="Freeform 3" id="3"/>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4" id="4"/>
          <p:cNvGrpSpPr/>
          <p:nvPr/>
        </p:nvGrpSpPr>
        <p:grpSpPr>
          <a:xfrm rot="0">
            <a:off x="13713001" y="-1235476"/>
            <a:ext cx="5770168" cy="5770168"/>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6" id="6"/>
          <p:cNvGrpSpPr/>
          <p:nvPr/>
        </p:nvGrpSpPr>
        <p:grpSpPr>
          <a:xfrm rot="0">
            <a:off x="432012" y="8441627"/>
            <a:ext cx="1635964" cy="1633346"/>
            <a:chOff x="0" y="0"/>
            <a:chExt cx="6350000" cy="6339840"/>
          </a:xfrm>
        </p:grpSpPr>
        <p:sp>
          <p:nvSpPr>
            <p:cNvPr name="Freeform 7" id="7"/>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lnTo>
                    <a:pt x="6350000" y="6339840"/>
                  </a:lnTo>
                  <a:close/>
                </a:path>
              </a:pathLst>
            </a:custGeom>
            <a:solidFill>
              <a:srgbClr val="2B4A9D"/>
            </a:solidFill>
          </p:spPr>
        </p:sp>
      </p:grpSp>
      <p:grpSp>
        <p:nvGrpSpPr>
          <p:cNvPr name="Group 8" id="8"/>
          <p:cNvGrpSpPr/>
          <p:nvPr/>
        </p:nvGrpSpPr>
        <p:grpSpPr>
          <a:xfrm rot="5400000">
            <a:off x="210718" y="212027"/>
            <a:ext cx="1635964" cy="1633346"/>
            <a:chOff x="0" y="0"/>
            <a:chExt cx="6350000" cy="6339840"/>
          </a:xfrm>
        </p:grpSpPr>
        <p:sp>
          <p:nvSpPr>
            <p:cNvPr name="Freeform 9" id="9"/>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lnTo>
                    <a:pt x="6350000" y="6339840"/>
                  </a:lnTo>
                  <a:close/>
                </a:path>
              </a:pathLst>
            </a:custGeom>
            <a:solidFill>
              <a:srgbClr val="2B4A9D"/>
            </a:solidFill>
          </p:spPr>
        </p:sp>
      </p:grpSp>
      <p:sp>
        <p:nvSpPr>
          <p:cNvPr name="TextBox 10" id="10"/>
          <p:cNvSpPr txBox="true"/>
          <p:nvPr/>
        </p:nvSpPr>
        <p:spPr>
          <a:xfrm rot="0">
            <a:off x="619537" y="1047750"/>
            <a:ext cx="13093464" cy="895354"/>
          </a:xfrm>
          <a:prstGeom prst="rect">
            <a:avLst/>
          </a:prstGeom>
        </p:spPr>
        <p:txBody>
          <a:bodyPr anchor="t" rtlCol="false" tIns="0" lIns="0" bIns="0" rIns="0">
            <a:spAutoFit/>
          </a:bodyPr>
          <a:lstStyle/>
          <a:p>
            <a:pPr algn="ctr">
              <a:lnSpc>
                <a:spcPts val="6300"/>
              </a:lnSpc>
            </a:pPr>
            <a:r>
              <a:rPr lang="en-US" sz="6000" spc="300">
                <a:solidFill>
                  <a:srgbClr val="2B4A9D"/>
                </a:solidFill>
                <a:latin typeface="Poppins Ultra-Bold"/>
              </a:rPr>
              <a:t>CONTROL SCHEMES OVERVIEW:</a:t>
            </a:r>
          </a:p>
        </p:txBody>
      </p:sp>
      <p:sp>
        <p:nvSpPr>
          <p:cNvPr name="TextBox 11" id="11"/>
          <p:cNvSpPr txBox="true"/>
          <p:nvPr/>
        </p:nvSpPr>
        <p:spPr>
          <a:xfrm rot="0">
            <a:off x="-267892" y="2370630"/>
            <a:ext cx="16158961" cy="6852430"/>
          </a:xfrm>
          <a:prstGeom prst="rect">
            <a:avLst/>
          </a:prstGeom>
        </p:spPr>
        <p:txBody>
          <a:bodyPr anchor="t" rtlCol="false" tIns="0" lIns="0" bIns="0" rIns="0">
            <a:spAutoFit/>
          </a:bodyPr>
          <a:lstStyle/>
          <a:p>
            <a:pPr algn="l" marL="1390091" indent="-463364" lvl="2">
              <a:lnSpc>
                <a:spcPts val="4507"/>
              </a:lnSpc>
              <a:buFont typeface="Arial"/>
              <a:buChar char="⚬"/>
            </a:pPr>
            <a:r>
              <a:rPr lang="en-US" sz="3219" spc="321">
                <a:solidFill>
                  <a:srgbClr val="000000"/>
                </a:solidFill>
                <a:latin typeface="Lato Bold"/>
              </a:rPr>
              <a:t>Scalar Control</a:t>
            </a:r>
            <a:r>
              <a:rPr lang="en-US" sz="3219" spc="321">
                <a:solidFill>
                  <a:srgbClr val="000000"/>
                </a:solidFill>
                <a:latin typeface="Lato"/>
              </a:rPr>
              <a:t>: Maintains fixed voltage-frequency ratio but lacks precise speed control.</a:t>
            </a:r>
          </a:p>
          <a:p>
            <a:pPr algn="l">
              <a:lnSpc>
                <a:spcPts val="4507"/>
              </a:lnSpc>
            </a:pPr>
          </a:p>
          <a:p>
            <a:pPr algn="l" marL="1390091" indent="-463364" lvl="2">
              <a:lnSpc>
                <a:spcPts val="4507"/>
              </a:lnSpc>
              <a:buFont typeface="Arial"/>
              <a:buChar char="⚬"/>
            </a:pPr>
            <a:r>
              <a:rPr lang="en-US" sz="3219" spc="321">
                <a:solidFill>
                  <a:srgbClr val="000000"/>
                </a:solidFill>
                <a:latin typeface="Lato Bold"/>
              </a:rPr>
              <a:t>Vector Control (FOC)</a:t>
            </a:r>
            <a:r>
              <a:rPr lang="en-US" sz="3219" spc="321">
                <a:solidFill>
                  <a:srgbClr val="000000"/>
                </a:solidFill>
                <a:latin typeface="Lato"/>
              </a:rPr>
              <a:t>: Controls magnetizing and torque-producing components independently for speed and torque regulation.</a:t>
            </a:r>
          </a:p>
          <a:p>
            <a:pPr algn="l">
              <a:lnSpc>
                <a:spcPts val="4507"/>
              </a:lnSpc>
            </a:pPr>
          </a:p>
          <a:p>
            <a:pPr algn="l" marL="1390091" indent="-463364" lvl="2">
              <a:lnSpc>
                <a:spcPts val="4507"/>
              </a:lnSpc>
              <a:buFont typeface="Arial"/>
              <a:buChar char="⚬"/>
            </a:pPr>
            <a:r>
              <a:rPr lang="en-US" sz="3219" spc="321">
                <a:solidFill>
                  <a:srgbClr val="000000"/>
                </a:solidFill>
                <a:latin typeface="Lato Bold"/>
              </a:rPr>
              <a:t>Direct Torque Control (DTC)</a:t>
            </a:r>
            <a:r>
              <a:rPr lang="en-US" sz="3219" spc="321">
                <a:solidFill>
                  <a:srgbClr val="000000"/>
                </a:solidFill>
                <a:latin typeface="Lato"/>
              </a:rPr>
              <a:t>: Decouples torque and flux for independent control with faster torque response.</a:t>
            </a:r>
          </a:p>
          <a:p>
            <a:pPr algn="ctr">
              <a:lnSpc>
                <a:spcPts val="4507"/>
              </a:lnSpc>
            </a:pPr>
          </a:p>
          <a:p>
            <a:pPr algn="ctr">
              <a:lnSpc>
                <a:spcPts val="450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8587" y="7172474"/>
            <a:ext cx="5077367" cy="2657475"/>
          </a:xfrm>
          <a:prstGeom prst="rect">
            <a:avLst/>
          </a:prstGeom>
        </p:spPr>
        <p:txBody>
          <a:bodyPr anchor="t" rtlCol="false" tIns="0" lIns="0" bIns="0" rIns="0">
            <a:spAutoFit/>
          </a:bodyPr>
          <a:lstStyle/>
          <a:p>
            <a:pPr algn="l" marL="647703" indent="-323852" lvl="1">
              <a:lnSpc>
                <a:spcPts val="4200"/>
              </a:lnSpc>
              <a:buFont typeface="Arial"/>
              <a:buChar char="•"/>
            </a:pPr>
            <a:r>
              <a:rPr lang="en-US" sz="3000" spc="300">
                <a:solidFill>
                  <a:srgbClr val="000000"/>
                </a:solidFill>
                <a:latin typeface="Lato"/>
              </a:rPr>
              <a:t>DTC EMPLOYS TWO CONTROL LOOPS: SPEED CONTROL AND TORQUE CONTROL</a:t>
            </a:r>
          </a:p>
        </p:txBody>
      </p:sp>
      <p:grpSp>
        <p:nvGrpSpPr>
          <p:cNvPr name="Group 3" id="3"/>
          <p:cNvGrpSpPr/>
          <p:nvPr/>
        </p:nvGrpSpPr>
        <p:grpSpPr>
          <a:xfrm rot="0">
            <a:off x="57616" y="185886"/>
            <a:ext cx="18288000" cy="6350625"/>
            <a:chOff x="0" y="0"/>
            <a:chExt cx="6671512" cy="2316725"/>
          </a:xfrm>
        </p:grpSpPr>
        <p:sp>
          <p:nvSpPr>
            <p:cNvPr name="Freeform 4" id="4"/>
            <p:cNvSpPr/>
            <p:nvPr/>
          </p:nvSpPr>
          <p:spPr>
            <a:xfrm flipH="false" flipV="false" rot="0">
              <a:off x="0" y="0"/>
              <a:ext cx="6671512" cy="2316725"/>
            </a:xfrm>
            <a:custGeom>
              <a:avLst/>
              <a:gdLst/>
              <a:ahLst/>
              <a:cxnLst/>
              <a:rect r="r" b="b" t="t" l="l"/>
              <a:pathLst>
                <a:path h="2316725" w="6671512">
                  <a:moveTo>
                    <a:pt x="0" y="0"/>
                  </a:moveTo>
                  <a:lnTo>
                    <a:pt x="6671512" y="0"/>
                  </a:lnTo>
                  <a:lnTo>
                    <a:pt x="6671512" y="2316725"/>
                  </a:lnTo>
                  <a:lnTo>
                    <a:pt x="0" y="2316725"/>
                  </a:lnTo>
                  <a:close/>
                </a:path>
              </a:pathLst>
            </a:custGeom>
            <a:solidFill>
              <a:srgbClr val="5271FF"/>
            </a:solidFill>
          </p:spPr>
        </p:sp>
      </p:grpSp>
      <p:sp>
        <p:nvSpPr>
          <p:cNvPr name="AutoShape 5" id="5"/>
          <p:cNvSpPr/>
          <p:nvPr/>
        </p:nvSpPr>
        <p:spPr>
          <a:xfrm rot="-5400000">
            <a:off x="4391954" y="8529786"/>
            <a:ext cx="2209027" cy="0"/>
          </a:xfrm>
          <a:prstGeom prst="line">
            <a:avLst/>
          </a:prstGeom>
          <a:ln cap="flat" w="9525">
            <a:solidFill>
              <a:srgbClr val="2B4A9D"/>
            </a:solidFill>
            <a:prstDash val="solid"/>
            <a:headEnd type="none" len="sm" w="sm"/>
            <a:tailEnd type="none" len="sm" w="sm"/>
          </a:ln>
        </p:spPr>
      </p:sp>
      <p:sp>
        <p:nvSpPr>
          <p:cNvPr name="AutoShape 6" id="6"/>
          <p:cNvSpPr/>
          <p:nvPr/>
        </p:nvSpPr>
        <p:spPr>
          <a:xfrm rot="-5400000">
            <a:off x="5080304" y="8520261"/>
            <a:ext cx="832326" cy="0"/>
          </a:xfrm>
          <a:prstGeom prst="line">
            <a:avLst/>
          </a:prstGeom>
          <a:ln cap="flat" w="28575">
            <a:solidFill>
              <a:srgbClr val="2B4A9D"/>
            </a:solidFill>
            <a:prstDash val="solid"/>
            <a:headEnd type="none" len="sm" w="sm"/>
            <a:tailEnd type="none" len="sm" w="sm"/>
          </a:ln>
        </p:spPr>
      </p:sp>
      <p:sp>
        <p:nvSpPr>
          <p:cNvPr name="AutoShape 7" id="7"/>
          <p:cNvSpPr/>
          <p:nvPr/>
        </p:nvSpPr>
        <p:spPr>
          <a:xfrm rot="-5400000">
            <a:off x="10945153" y="8529786"/>
            <a:ext cx="2209027" cy="0"/>
          </a:xfrm>
          <a:prstGeom prst="line">
            <a:avLst/>
          </a:prstGeom>
          <a:ln cap="flat" w="9525">
            <a:solidFill>
              <a:srgbClr val="2B4A9D"/>
            </a:solidFill>
            <a:prstDash val="solid"/>
            <a:headEnd type="none" len="sm" w="sm"/>
            <a:tailEnd type="none" len="sm" w="sm"/>
          </a:ln>
        </p:spPr>
      </p:sp>
      <p:sp>
        <p:nvSpPr>
          <p:cNvPr name="AutoShape 8" id="8"/>
          <p:cNvSpPr/>
          <p:nvPr/>
        </p:nvSpPr>
        <p:spPr>
          <a:xfrm rot="-5400000">
            <a:off x="11633504" y="8520261"/>
            <a:ext cx="832326" cy="0"/>
          </a:xfrm>
          <a:prstGeom prst="line">
            <a:avLst/>
          </a:prstGeom>
          <a:ln cap="flat" w="28575">
            <a:solidFill>
              <a:srgbClr val="2B4A9D"/>
            </a:solidFill>
            <a:prstDash val="solid"/>
            <a:headEnd type="none" len="sm" w="sm"/>
            <a:tailEnd type="none" len="sm" w="sm"/>
          </a:ln>
        </p:spPr>
      </p:sp>
      <p:sp>
        <p:nvSpPr>
          <p:cNvPr name="Freeform 9" id="9"/>
          <p:cNvSpPr/>
          <p:nvPr/>
        </p:nvSpPr>
        <p:spPr>
          <a:xfrm flipH="false" flipV="false" rot="0">
            <a:off x="6344890" y="185886"/>
            <a:ext cx="10640090" cy="5978852"/>
          </a:xfrm>
          <a:custGeom>
            <a:avLst/>
            <a:gdLst/>
            <a:ahLst/>
            <a:cxnLst/>
            <a:rect r="r" b="b" t="t" l="l"/>
            <a:pathLst>
              <a:path h="5978852" w="10640090">
                <a:moveTo>
                  <a:pt x="0" y="0"/>
                </a:moveTo>
                <a:lnTo>
                  <a:pt x="10640090" y="0"/>
                </a:lnTo>
                <a:lnTo>
                  <a:pt x="10640090" y="5978852"/>
                </a:lnTo>
                <a:lnTo>
                  <a:pt x="0" y="5978852"/>
                </a:lnTo>
                <a:lnTo>
                  <a:pt x="0" y="0"/>
                </a:lnTo>
                <a:close/>
              </a:path>
            </a:pathLst>
          </a:custGeom>
          <a:blipFill>
            <a:blip r:embed="rId2"/>
            <a:stretch>
              <a:fillRect l="0" t="0" r="0" b="0"/>
            </a:stretch>
          </a:blipFill>
        </p:spPr>
      </p:sp>
      <p:sp>
        <p:nvSpPr>
          <p:cNvPr name="TextBox 10" id="10"/>
          <p:cNvSpPr txBox="true"/>
          <p:nvPr/>
        </p:nvSpPr>
        <p:spPr>
          <a:xfrm rot="0">
            <a:off x="5496467" y="6911375"/>
            <a:ext cx="5882660" cy="3036594"/>
          </a:xfrm>
          <a:prstGeom prst="rect">
            <a:avLst/>
          </a:prstGeom>
        </p:spPr>
        <p:txBody>
          <a:bodyPr anchor="t" rtlCol="false" tIns="0" lIns="0" bIns="0" rIns="0">
            <a:spAutoFit/>
          </a:bodyPr>
          <a:lstStyle/>
          <a:p>
            <a:pPr algn="l" marL="617690" indent="-308845" lvl="1">
              <a:lnSpc>
                <a:spcPts val="4005"/>
              </a:lnSpc>
              <a:buFont typeface="Arial"/>
              <a:buChar char="•"/>
            </a:pPr>
            <a:r>
              <a:rPr lang="en-US" sz="2860" spc="286">
                <a:solidFill>
                  <a:srgbClr val="000000"/>
                </a:solidFill>
                <a:latin typeface="Lato"/>
              </a:rPr>
              <a:t> TORQUE AND FLUX COMPARATORS ENSURE THAT TORQUE AND FLUX VALUES REMAIN WITHIN NARROW HYSTERESIS BANDS </a:t>
            </a:r>
          </a:p>
        </p:txBody>
      </p:sp>
      <p:sp>
        <p:nvSpPr>
          <p:cNvPr name="TextBox 11" id="11"/>
          <p:cNvSpPr txBox="true"/>
          <p:nvPr/>
        </p:nvSpPr>
        <p:spPr>
          <a:xfrm rot="0">
            <a:off x="11871826" y="6915375"/>
            <a:ext cx="6416174" cy="3032594"/>
          </a:xfrm>
          <a:prstGeom prst="rect">
            <a:avLst/>
          </a:prstGeom>
        </p:spPr>
        <p:txBody>
          <a:bodyPr anchor="t" rtlCol="false" tIns="0" lIns="0" bIns="0" rIns="0">
            <a:spAutoFit/>
          </a:bodyPr>
          <a:lstStyle/>
          <a:p>
            <a:pPr algn="l" marL="618120" indent="-309060" lvl="1">
              <a:lnSpc>
                <a:spcPts val="4008"/>
              </a:lnSpc>
              <a:buFont typeface="Arial"/>
              <a:buChar char="•"/>
            </a:pPr>
            <a:r>
              <a:rPr lang="en-US" sz="2862" spc="286">
                <a:solidFill>
                  <a:srgbClr val="000000"/>
                </a:solidFill>
                <a:latin typeface="Lato"/>
              </a:rPr>
              <a:t>AN OPTIMUM PULSE SELECTOR DETERMINES THE VOLTAGE VECTOR BASED ON TORQUE AND FLUX STATUS SIGNALS, GUIDED BY A LOOKUP TABLE</a:t>
            </a:r>
          </a:p>
        </p:txBody>
      </p:sp>
      <p:sp>
        <p:nvSpPr>
          <p:cNvPr name="TextBox 12" id="12"/>
          <p:cNvSpPr txBox="true"/>
          <p:nvPr/>
        </p:nvSpPr>
        <p:spPr>
          <a:xfrm rot="0">
            <a:off x="419100" y="2051395"/>
            <a:ext cx="4967830" cy="1695454"/>
          </a:xfrm>
          <a:prstGeom prst="rect">
            <a:avLst/>
          </a:prstGeom>
        </p:spPr>
        <p:txBody>
          <a:bodyPr anchor="t" rtlCol="false" tIns="0" lIns="0" bIns="0" rIns="0">
            <a:spAutoFit/>
          </a:bodyPr>
          <a:lstStyle/>
          <a:p>
            <a:pPr algn="ctr">
              <a:lnSpc>
                <a:spcPts val="6300"/>
              </a:lnSpc>
            </a:pPr>
            <a:r>
              <a:rPr lang="en-US" sz="6000" spc="300">
                <a:solidFill>
                  <a:srgbClr val="FFFFFF"/>
                </a:solidFill>
                <a:latin typeface="Poppins Heavy"/>
              </a:rPr>
              <a:t>DTC OVERVIEW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6425685" y="1860459"/>
            <a:ext cx="6566081" cy="6566081"/>
            <a:chOff x="0" y="0"/>
            <a:chExt cx="1913890" cy="1913890"/>
          </a:xfrm>
        </p:grpSpPr>
        <p:sp>
          <p:nvSpPr>
            <p:cNvPr name="Freeform 3" id="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4" id="4"/>
          <p:cNvGrpSpPr/>
          <p:nvPr/>
        </p:nvGrpSpPr>
        <p:grpSpPr>
          <a:xfrm rot="2700000">
            <a:off x="17064657" y="2193249"/>
            <a:ext cx="5852880" cy="5852880"/>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6" id="6"/>
          <p:cNvGrpSpPr/>
          <p:nvPr/>
        </p:nvGrpSpPr>
        <p:grpSpPr>
          <a:xfrm rot="2700000">
            <a:off x="11143419" y="-3920369"/>
            <a:ext cx="6164339" cy="6164339"/>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sp>
        <p:nvSpPr>
          <p:cNvPr name="TextBox 8" id="8"/>
          <p:cNvSpPr txBox="true"/>
          <p:nvPr/>
        </p:nvSpPr>
        <p:spPr>
          <a:xfrm rot="0">
            <a:off x="1028700" y="1057275"/>
            <a:ext cx="913575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BENCHMARK </a:t>
            </a:r>
          </a:p>
        </p:txBody>
      </p:sp>
      <p:grpSp>
        <p:nvGrpSpPr>
          <p:cNvPr name="Group 9" id="9"/>
          <p:cNvGrpSpPr/>
          <p:nvPr/>
        </p:nvGrpSpPr>
        <p:grpSpPr>
          <a:xfrm rot="5400000">
            <a:off x="-1309" y="1309"/>
            <a:ext cx="1635964" cy="1633346"/>
            <a:chOff x="0" y="0"/>
            <a:chExt cx="6350000" cy="6339840"/>
          </a:xfrm>
        </p:grpSpPr>
        <p:sp>
          <p:nvSpPr>
            <p:cNvPr name="Freeform 10" id="10"/>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lnTo>
                    <a:pt x="6350000" y="6339840"/>
                  </a:lnTo>
                  <a:close/>
                </a:path>
              </a:pathLst>
            </a:custGeom>
            <a:solidFill>
              <a:srgbClr val="2B4A9D"/>
            </a:solidFill>
          </p:spPr>
        </p:sp>
      </p:grpSp>
      <p:sp>
        <p:nvSpPr>
          <p:cNvPr name="Freeform 11" id="11"/>
          <p:cNvSpPr/>
          <p:nvPr/>
        </p:nvSpPr>
        <p:spPr>
          <a:xfrm flipH="false" flipV="false" rot="0">
            <a:off x="0" y="4136546"/>
            <a:ext cx="15852486" cy="5614605"/>
          </a:xfrm>
          <a:custGeom>
            <a:avLst/>
            <a:gdLst/>
            <a:ahLst/>
            <a:cxnLst/>
            <a:rect r="r" b="b" t="t" l="l"/>
            <a:pathLst>
              <a:path h="5614605" w="15852486">
                <a:moveTo>
                  <a:pt x="0" y="0"/>
                </a:moveTo>
                <a:lnTo>
                  <a:pt x="15852486" y="0"/>
                </a:lnTo>
                <a:lnTo>
                  <a:pt x="15852486" y="5614605"/>
                </a:lnTo>
                <a:lnTo>
                  <a:pt x="0" y="5614605"/>
                </a:lnTo>
                <a:lnTo>
                  <a:pt x="0" y="0"/>
                </a:lnTo>
                <a:close/>
              </a:path>
            </a:pathLst>
          </a:custGeom>
          <a:blipFill>
            <a:blip r:embed="rId2"/>
            <a:stretch>
              <a:fillRect l="0" t="0" r="0" b="0"/>
            </a:stretch>
          </a:blipFill>
        </p:spPr>
      </p:sp>
      <p:sp>
        <p:nvSpPr>
          <p:cNvPr name="TextBox 12" id="12"/>
          <p:cNvSpPr txBox="true"/>
          <p:nvPr/>
        </p:nvSpPr>
        <p:spPr>
          <a:xfrm rot="0">
            <a:off x="546490" y="1888703"/>
            <a:ext cx="9135755" cy="2124075"/>
          </a:xfrm>
          <a:prstGeom prst="rect">
            <a:avLst/>
          </a:prstGeom>
        </p:spPr>
        <p:txBody>
          <a:bodyPr anchor="t" rtlCol="false" tIns="0" lIns="0" bIns="0" rIns="0">
            <a:spAutoFit/>
          </a:bodyPr>
          <a:lstStyle/>
          <a:p>
            <a:pPr algn="l">
              <a:lnSpc>
                <a:spcPts val="4200"/>
              </a:lnSpc>
            </a:pPr>
          </a:p>
          <a:p>
            <a:pPr algn="l">
              <a:lnSpc>
                <a:spcPts val="4200"/>
              </a:lnSpc>
            </a:pPr>
            <a:r>
              <a:rPr lang="en-US" sz="3000" spc="300">
                <a:solidFill>
                  <a:srgbClr val="000000"/>
                </a:solidFill>
                <a:latin typeface="Lato"/>
              </a:rPr>
              <a:t>In our study, traditional Direct Torque Control (DTC) stands out as the benchmark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649299" y="3404152"/>
            <a:ext cx="12530617" cy="5854148"/>
          </a:xfrm>
          <a:custGeom>
            <a:avLst/>
            <a:gdLst/>
            <a:ahLst/>
            <a:cxnLst/>
            <a:rect r="r" b="b" t="t" l="l"/>
            <a:pathLst>
              <a:path h="5854148" w="12530617">
                <a:moveTo>
                  <a:pt x="0" y="0"/>
                </a:moveTo>
                <a:lnTo>
                  <a:pt x="12530617" y="0"/>
                </a:lnTo>
                <a:lnTo>
                  <a:pt x="12530617" y="5854148"/>
                </a:lnTo>
                <a:lnTo>
                  <a:pt x="0" y="5854148"/>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RESULTS OF DTC</a:t>
            </a:r>
          </a:p>
        </p:txBody>
      </p:sp>
      <p:sp>
        <p:nvSpPr>
          <p:cNvPr name="TextBox 10" id="10"/>
          <p:cNvSpPr txBox="true"/>
          <p:nvPr/>
        </p:nvSpPr>
        <p:spPr>
          <a:xfrm rot="0">
            <a:off x="2965509" y="1878234"/>
            <a:ext cx="13435260" cy="1976754"/>
          </a:xfrm>
          <a:prstGeom prst="rect">
            <a:avLst/>
          </a:prstGeom>
        </p:spPr>
        <p:txBody>
          <a:bodyPr anchor="t" rtlCol="false" tIns="0" lIns="0" bIns="0" rIns="0">
            <a:spAutoFit/>
          </a:bodyPr>
          <a:lstStyle/>
          <a:p>
            <a:pPr algn="ctr" marL="604524" indent="-302262" lvl="1">
              <a:lnSpc>
                <a:spcPts val="3920"/>
              </a:lnSpc>
              <a:buFont typeface="Arial"/>
              <a:buChar char="•"/>
            </a:pPr>
            <a:r>
              <a:rPr lang="en-US" sz="2800" spc="280">
                <a:solidFill>
                  <a:srgbClr val="000000"/>
                </a:solidFill>
                <a:latin typeface="Lato Italics"/>
              </a:rPr>
              <a:t>DTC OFFERS SUPERIOR PERFORMANCE WITH FAST TORQUE RESPONSE AND PRECISE CONTROL COMPARED TO TRADITIONAL METHODS.</a:t>
            </a:r>
          </a:p>
          <a:p>
            <a:pPr algn="ctr">
              <a:lnSpc>
                <a:spcPts val="3920"/>
              </a:lnSpc>
            </a:pPr>
          </a:p>
        </p:txBody>
      </p:sp>
      <p:sp>
        <p:nvSpPr>
          <p:cNvPr name="TextBox 11" id="11"/>
          <p:cNvSpPr txBox="true"/>
          <p:nvPr/>
        </p:nvSpPr>
        <p:spPr>
          <a:xfrm rot="0">
            <a:off x="5568851" y="9476374"/>
            <a:ext cx="7150298" cy="431799"/>
          </a:xfrm>
          <a:prstGeom prst="rect">
            <a:avLst/>
          </a:prstGeom>
        </p:spPr>
        <p:txBody>
          <a:bodyPr anchor="t" rtlCol="false" tIns="0" lIns="0" bIns="0" rIns="0">
            <a:spAutoFit/>
          </a:bodyPr>
          <a:lstStyle/>
          <a:p>
            <a:pPr algn="ctr">
              <a:lnSpc>
                <a:spcPts val="3500"/>
              </a:lnSpc>
            </a:pPr>
            <a:r>
              <a:rPr lang="en-US" sz="2500">
                <a:solidFill>
                  <a:srgbClr val="000000"/>
                </a:solidFill>
                <a:latin typeface="Canva Sans"/>
              </a:rPr>
              <a:t>omega motor compared to the reference value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7834" y="2425592"/>
            <a:ext cx="9968424" cy="1259922"/>
            <a:chOff x="0" y="0"/>
            <a:chExt cx="3636508" cy="459623"/>
          </a:xfrm>
        </p:grpSpPr>
        <p:sp>
          <p:nvSpPr>
            <p:cNvPr name="Freeform 3" id="3"/>
            <p:cNvSpPr/>
            <p:nvPr/>
          </p:nvSpPr>
          <p:spPr>
            <a:xfrm flipH="false" flipV="false" rot="0">
              <a:off x="0" y="0"/>
              <a:ext cx="3636508" cy="459623"/>
            </a:xfrm>
            <a:custGeom>
              <a:avLst/>
              <a:gdLst/>
              <a:ahLst/>
              <a:cxnLst/>
              <a:rect r="r" b="b" t="t" l="l"/>
              <a:pathLst>
                <a:path h="459623" w="3636508">
                  <a:moveTo>
                    <a:pt x="0" y="0"/>
                  </a:moveTo>
                  <a:lnTo>
                    <a:pt x="3636508" y="0"/>
                  </a:lnTo>
                  <a:lnTo>
                    <a:pt x="3636508" y="459623"/>
                  </a:lnTo>
                  <a:lnTo>
                    <a:pt x="0" y="459623"/>
                  </a:lnTo>
                  <a:close/>
                </a:path>
              </a:pathLst>
            </a:custGeom>
            <a:solidFill>
              <a:srgbClr val="2B4A9D"/>
            </a:solidFill>
          </p:spPr>
        </p:sp>
      </p:grpSp>
      <p:grpSp>
        <p:nvGrpSpPr>
          <p:cNvPr name="Group 4" id="4"/>
          <p:cNvGrpSpPr/>
          <p:nvPr/>
        </p:nvGrpSpPr>
        <p:grpSpPr>
          <a:xfrm rot="-2700000">
            <a:off x="-3283041" y="-3283041"/>
            <a:ext cx="6566081" cy="6566081"/>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6" id="6"/>
          <p:cNvGrpSpPr/>
          <p:nvPr/>
        </p:nvGrpSpPr>
        <p:grpSpPr>
          <a:xfrm rot="2700000">
            <a:off x="-2926440" y="-2926440"/>
            <a:ext cx="5852880" cy="5852880"/>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8" id="8"/>
          <p:cNvGrpSpPr/>
          <p:nvPr/>
        </p:nvGrpSpPr>
        <p:grpSpPr>
          <a:xfrm rot="-2700000">
            <a:off x="-3283041" y="7003959"/>
            <a:ext cx="6566081" cy="6566081"/>
            <a:chOff x="0" y="0"/>
            <a:chExt cx="1913890" cy="1913890"/>
          </a:xfrm>
        </p:grpSpPr>
        <p:sp>
          <p:nvSpPr>
            <p:cNvPr name="Freeform 9" id="9"/>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10" id="10"/>
          <p:cNvGrpSpPr/>
          <p:nvPr/>
        </p:nvGrpSpPr>
        <p:grpSpPr>
          <a:xfrm rot="2700000">
            <a:off x="-2926440" y="7360560"/>
            <a:ext cx="5852880" cy="5852880"/>
            <a:chOff x="0" y="0"/>
            <a:chExt cx="1913890" cy="1913890"/>
          </a:xfrm>
        </p:grpSpPr>
        <p:sp>
          <p:nvSpPr>
            <p:cNvPr name="Freeform 11" id="11"/>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12" id="12"/>
          <p:cNvGrpSpPr/>
          <p:nvPr/>
        </p:nvGrpSpPr>
        <p:grpSpPr>
          <a:xfrm rot="-2700000">
            <a:off x="-3283041" y="8117325"/>
            <a:ext cx="6566081" cy="6566081"/>
            <a:chOff x="0" y="0"/>
            <a:chExt cx="1913890" cy="1913890"/>
          </a:xfrm>
        </p:grpSpPr>
        <p:sp>
          <p:nvSpPr>
            <p:cNvPr name="Freeform 13" id="1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14" id="14"/>
          <p:cNvGrpSpPr/>
          <p:nvPr/>
        </p:nvGrpSpPr>
        <p:grpSpPr>
          <a:xfrm rot="2700000">
            <a:off x="-2926440" y="8473925"/>
            <a:ext cx="5852880" cy="5852880"/>
            <a:chOff x="0" y="0"/>
            <a:chExt cx="1913890" cy="1913890"/>
          </a:xfrm>
        </p:grpSpPr>
        <p:sp>
          <p:nvSpPr>
            <p:cNvPr name="Freeform 15" id="1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sp>
        <p:nvSpPr>
          <p:cNvPr name="TextBox 16" id="16"/>
          <p:cNvSpPr txBox="true"/>
          <p:nvPr/>
        </p:nvSpPr>
        <p:spPr>
          <a:xfrm rot="0">
            <a:off x="895350" y="3937529"/>
            <a:ext cx="9233976" cy="33242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ARTIFICAL</a:t>
            </a:r>
          </a:p>
          <a:p>
            <a:pPr algn="ctr">
              <a:lnSpc>
                <a:spcPts val="8400"/>
              </a:lnSpc>
            </a:pPr>
            <a:r>
              <a:rPr lang="en-US" sz="8000" spc="400">
                <a:solidFill>
                  <a:srgbClr val="2B4A9D"/>
                </a:solidFill>
                <a:latin typeface="Poppins Ultra-Bold"/>
              </a:rPr>
              <a:t>NEURAL NETWORKS</a:t>
            </a:r>
          </a:p>
        </p:txBody>
      </p:sp>
      <p:grpSp>
        <p:nvGrpSpPr>
          <p:cNvPr name="Group 17" id="17"/>
          <p:cNvGrpSpPr/>
          <p:nvPr/>
        </p:nvGrpSpPr>
        <p:grpSpPr>
          <a:xfrm rot="0">
            <a:off x="10129326" y="0"/>
            <a:ext cx="8158674" cy="10287000"/>
            <a:chOff x="0" y="0"/>
            <a:chExt cx="2976306" cy="3752725"/>
          </a:xfrm>
        </p:grpSpPr>
        <p:sp>
          <p:nvSpPr>
            <p:cNvPr name="Freeform 18" id="18"/>
            <p:cNvSpPr/>
            <p:nvPr/>
          </p:nvSpPr>
          <p:spPr>
            <a:xfrm flipH="false" flipV="false" rot="0">
              <a:off x="0" y="0"/>
              <a:ext cx="2976306" cy="3752726"/>
            </a:xfrm>
            <a:custGeom>
              <a:avLst/>
              <a:gdLst/>
              <a:ahLst/>
              <a:cxnLst/>
              <a:rect r="r" b="b" t="t" l="l"/>
              <a:pathLst>
                <a:path h="3752726" w="2976306">
                  <a:moveTo>
                    <a:pt x="0" y="0"/>
                  </a:moveTo>
                  <a:lnTo>
                    <a:pt x="2976306" y="0"/>
                  </a:lnTo>
                  <a:lnTo>
                    <a:pt x="2976306" y="3752726"/>
                  </a:lnTo>
                  <a:lnTo>
                    <a:pt x="0" y="3752726"/>
                  </a:lnTo>
                  <a:close/>
                </a:path>
              </a:pathLst>
            </a:custGeom>
            <a:solidFill>
              <a:srgbClr val="2B4A9D"/>
            </a:solidFill>
          </p:spPr>
        </p:sp>
      </p:grpSp>
      <p:sp>
        <p:nvSpPr>
          <p:cNvPr name="Freeform 19" id="19"/>
          <p:cNvSpPr/>
          <p:nvPr/>
        </p:nvSpPr>
        <p:spPr>
          <a:xfrm flipH="false" flipV="false" rot="0">
            <a:off x="11988014" y="3011677"/>
            <a:ext cx="4441299" cy="4263647"/>
          </a:xfrm>
          <a:custGeom>
            <a:avLst/>
            <a:gdLst/>
            <a:ahLst/>
            <a:cxnLst/>
            <a:rect r="r" b="b" t="t" l="l"/>
            <a:pathLst>
              <a:path h="4263647" w="4441299">
                <a:moveTo>
                  <a:pt x="0" y="0"/>
                </a:moveTo>
                <a:lnTo>
                  <a:pt x="4441298" y="0"/>
                </a:lnTo>
                <a:lnTo>
                  <a:pt x="4441298" y="4263646"/>
                </a:lnTo>
                <a:lnTo>
                  <a:pt x="0" y="42636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891069" y="1028700"/>
            <a:ext cx="2396931" cy="9154697"/>
            <a:chOff x="0" y="0"/>
            <a:chExt cx="874407" cy="3339658"/>
          </a:xfrm>
        </p:grpSpPr>
        <p:sp>
          <p:nvSpPr>
            <p:cNvPr name="Freeform 3" id="3"/>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4" id="4"/>
          <p:cNvGrpSpPr/>
          <p:nvPr/>
        </p:nvGrpSpPr>
        <p:grpSpPr>
          <a:xfrm rot="0">
            <a:off x="13713001" y="-1128319"/>
            <a:ext cx="5770168" cy="5770168"/>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6" id="6"/>
          <p:cNvGrpSpPr/>
          <p:nvPr/>
        </p:nvGrpSpPr>
        <p:grpSpPr>
          <a:xfrm rot="0">
            <a:off x="619537" y="8172754"/>
            <a:ext cx="1635964" cy="1633346"/>
            <a:chOff x="0" y="0"/>
            <a:chExt cx="6350000" cy="6339840"/>
          </a:xfrm>
        </p:grpSpPr>
        <p:sp>
          <p:nvSpPr>
            <p:cNvPr name="Freeform 7" id="7"/>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lnTo>
                    <a:pt x="6350000" y="6339840"/>
                  </a:lnTo>
                  <a:close/>
                </a:path>
              </a:pathLst>
            </a:custGeom>
            <a:solidFill>
              <a:srgbClr val="2B4A9D"/>
            </a:solidFill>
          </p:spPr>
        </p:sp>
      </p:grpSp>
      <p:grpSp>
        <p:nvGrpSpPr>
          <p:cNvPr name="Group 8" id="8"/>
          <p:cNvGrpSpPr/>
          <p:nvPr/>
        </p:nvGrpSpPr>
        <p:grpSpPr>
          <a:xfrm rot="5400000">
            <a:off x="618228" y="566151"/>
            <a:ext cx="1635964" cy="1633346"/>
            <a:chOff x="0" y="0"/>
            <a:chExt cx="6350000" cy="6339840"/>
          </a:xfrm>
        </p:grpSpPr>
        <p:sp>
          <p:nvSpPr>
            <p:cNvPr name="Freeform 9" id="9"/>
            <p:cNvSpPr/>
            <p:nvPr/>
          </p:nvSpPr>
          <p:spPr>
            <a:xfrm flipH="false" flipV="false" rot="0">
              <a:off x="0" y="0"/>
              <a:ext cx="6350000" cy="6339840"/>
            </a:xfrm>
            <a:custGeom>
              <a:avLst/>
              <a:gdLst/>
              <a:ahLst/>
              <a:cxnLst/>
              <a:rect r="r" b="b" t="t" l="l"/>
              <a:pathLst>
                <a:path h="6339840" w="6350000">
                  <a:moveTo>
                    <a:pt x="6350000" y="6339840"/>
                  </a:moveTo>
                  <a:lnTo>
                    <a:pt x="0" y="6339840"/>
                  </a:lnTo>
                  <a:lnTo>
                    <a:pt x="0" y="0"/>
                  </a:lnTo>
                  <a:lnTo>
                    <a:pt x="6350000" y="6339840"/>
                  </a:lnTo>
                  <a:close/>
                </a:path>
              </a:pathLst>
            </a:custGeom>
            <a:solidFill>
              <a:srgbClr val="2B4A9D"/>
            </a:solidFill>
          </p:spPr>
        </p:sp>
      </p:grpSp>
      <p:sp>
        <p:nvSpPr>
          <p:cNvPr name="TextBox 10" id="10"/>
          <p:cNvSpPr txBox="true"/>
          <p:nvPr/>
        </p:nvSpPr>
        <p:spPr>
          <a:xfrm rot="0">
            <a:off x="1008395" y="1305519"/>
            <a:ext cx="10353204" cy="895354"/>
          </a:xfrm>
          <a:prstGeom prst="rect">
            <a:avLst/>
          </a:prstGeom>
        </p:spPr>
        <p:txBody>
          <a:bodyPr anchor="t" rtlCol="false" tIns="0" lIns="0" bIns="0" rIns="0">
            <a:spAutoFit/>
          </a:bodyPr>
          <a:lstStyle/>
          <a:p>
            <a:pPr algn="ctr">
              <a:lnSpc>
                <a:spcPts val="6300"/>
              </a:lnSpc>
            </a:pPr>
            <a:r>
              <a:rPr lang="en-US" sz="6000" spc="300">
                <a:solidFill>
                  <a:srgbClr val="2B4A9D"/>
                </a:solidFill>
                <a:latin typeface="Poppins Ultra-Bold"/>
              </a:rPr>
              <a:t>CONTROL TECHNIQUES</a:t>
            </a:r>
          </a:p>
        </p:txBody>
      </p:sp>
      <p:sp>
        <p:nvSpPr>
          <p:cNvPr name="TextBox 11" id="11"/>
          <p:cNvSpPr txBox="true"/>
          <p:nvPr/>
        </p:nvSpPr>
        <p:spPr>
          <a:xfrm rot="0">
            <a:off x="-267892" y="2370630"/>
            <a:ext cx="16158961" cy="6290695"/>
          </a:xfrm>
          <a:prstGeom prst="rect">
            <a:avLst/>
          </a:prstGeom>
        </p:spPr>
        <p:txBody>
          <a:bodyPr anchor="t" rtlCol="false" tIns="0" lIns="0" bIns="0" rIns="0">
            <a:spAutoFit/>
          </a:bodyPr>
          <a:lstStyle/>
          <a:p>
            <a:pPr algn="ctr" marL="695046" indent="-347523" lvl="1">
              <a:lnSpc>
                <a:spcPts val="4507"/>
              </a:lnSpc>
              <a:buFont typeface="Arial"/>
              <a:buChar char="•"/>
            </a:pPr>
            <a:r>
              <a:rPr lang="en-US" sz="3219" spc="321">
                <a:solidFill>
                  <a:srgbClr val="000000"/>
                </a:solidFill>
                <a:latin typeface="Lato"/>
              </a:rPr>
              <a:t>TRADITIONAL CONTROLLERS LIKE PID AND LQR REQUIRE ACCURATE MATHEMATICAL MODELS OF THE SYSTEM DYNAMICS.</a:t>
            </a:r>
          </a:p>
          <a:p>
            <a:pPr algn="ctr">
              <a:lnSpc>
                <a:spcPts val="4507"/>
              </a:lnSpc>
            </a:pPr>
          </a:p>
          <a:p>
            <a:pPr algn="ctr" marL="695046" indent="-347523" lvl="1">
              <a:lnSpc>
                <a:spcPts val="4507"/>
              </a:lnSpc>
              <a:buFont typeface="Arial"/>
              <a:buChar char="•"/>
            </a:pPr>
            <a:r>
              <a:rPr lang="en-US" sz="3219" spc="321">
                <a:solidFill>
                  <a:srgbClr val="000000"/>
                </a:solidFill>
                <a:latin typeface="Lato"/>
              </a:rPr>
              <a:t>HOWEVER, BUILDING ACCURATE MODELS IS CHALLENGING DUE TO VARIOUS FACTORS SUCH AS UNCERTAINTY, AND PARAMETER DRIFTS.</a:t>
            </a:r>
          </a:p>
          <a:p>
            <a:pPr algn="ctr">
              <a:lnSpc>
                <a:spcPts val="4507"/>
              </a:lnSpc>
            </a:pPr>
          </a:p>
          <a:p>
            <a:pPr algn="ctr" marL="695046" indent="-347523" lvl="1">
              <a:lnSpc>
                <a:spcPts val="4507"/>
              </a:lnSpc>
              <a:buFont typeface="Arial"/>
              <a:buChar char="•"/>
            </a:pPr>
            <a:r>
              <a:rPr lang="en-US" sz="3219" spc="321">
                <a:solidFill>
                  <a:srgbClr val="000000"/>
                </a:solidFill>
                <a:latin typeface="Lato"/>
              </a:rPr>
              <a:t>NEURAL NETWORKS OFFER AN INHERENT STRUCTURE SUITABLE FOR MAPPING COMPLEX CHARACTERISTICS, LEARNING, AND OPTIMIZATION.</a:t>
            </a:r>
          </a:p>
          <a:p>
            <a:pPr algn="ctr">
              <a:lnSpc>
                <a:spcPts val="450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9582" y="113658"/>
            <a:ext cx="452408" cy="10287000"/>
            <a:chOff x="0" y="0"/>
            <a:chExt cx="165040" cy="3752725"/>
          </a:xfrm>
        </p:grpSpPr>
        <p:sp>
          <p:nvSpPr>
            <p:cNvPr name="Freeform 3" id="3"/>
            <p:cNvSpPr/>
            <p:nvPr/>
          </p:nvSpPr>
          <p:spPr>
            <a:xfrm flipH="false" flipV="false" rot="0">
              <a:off x="0" y="0"/>
              <a:ext cx="165040" cy="3752726"/>
            </a:xfrm>
            <a:custGeom>
              <a:avLst/>
              <a:gdLst/>
              <a:ahLst/>
              <a:cxnLst/>
              <a:rect r="r" b="b" t="t" l="l"/>
              <a:pathLst>
                <a:path h="3752726" w="165040">
                  <a:moveTo>
                    <a:pt x="0" y="0"/>
                  </a:moveTo>
                  <a:lnTo>
                    <a:pt x="165040" y="0"/>
                  </a:lnTo>
                  <a:lnTo>
                    <a:pt x="165040" y="3752726"/>
                  </a:lnTo>
                  <a:lnTo>
                    <a:pt x="0" y="3752726"/>
                  </a:lnTo>
                  <a:close/>
                </a:path>
              </a:pathLst>
            </a:custGeom>
            <a:solidFill>
              <a:srgbClr val="2B4A9D"/>
            </a:solidFill>
          </p:spPr>
        </p:sp>
      </p:grpSp>
      <p:grpSp>
        <p:nvGrpSpPr>
          <p:cNvPr name="Group 4" id="4"/>
          <p:cNvGrpSpPr/>
          <p:nvPr/>
        </p:nvGrpSpPr>
        <p:grpSpPr>
          <a:xfrm rot="-2700000">
            <a:off x="10214516" y="9094180"/>
            <a:ext cx="6566081" cy="6566081"/>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6" id="6"/>
          <p:cNvGrpSpPr/>
          <p:nvPr/>
        </p:nvGrpSpPr>
        <p:grpSpPr>
          <a:xfrm rot="2700000">
            <a:off x="10571117" y="9408607"/>
            <a:ext cx="5852880" cy="5852880"/>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8" id="8"/>
          <p:cNvGrpSpPr/>
          <p:nvPr/>
        </p:nvGrpSpPr>
        <p:grpSpPr>
          <a:xfrm rot="2700000">
            <a:off x="8076791" y="-4342013"/>
            <a:ext cx="6164339" cy="6164339"/>
            <a:chOff x="0" y="0"/>
            <a:chExt cx="1913890" cy="1913890"/>
          </a:xfrm>
        </p:grpSpPr>
        <p:sp>
          <p:nvSpPr>
            <p:cNvPr name="Freeform 9" id="9"/>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grpSp>
        <p:nvGrpSpPr>
          <p:cNvPr name="Group 10" id="10"/>
          <p:cNvGrpSpPr/>
          <p:nvPr/>
        </p:nvGrpSpPr>
        <p:grpSpPr>
          <a:xfrm rot="-5400000">
            <a:off x="-18751" y="2074328"/>
            <a:ext cx="829509" cy="1966473"/>
            <a:chOff x="0" y="0"/>
            <a:chExt cx="2354580" cy="5581882"/>
          </a:xfrm>
        </p:grpSpPr>
        <p:sp>
          <p:nvSpPr>
            <p:cNvPr name="Freeform 11" id="11"/>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grpSp>
        <p:nvGrpSpPr>
          <p:cNvPr name="Group 12" id="12"/>
          <p:cNvGrpSpPr/>
          <p:nvPr/>
        </p:nvGrpSpPr>
        <p:grpSpPr>
          <a:xfrm rot="-5400000">
            <a:off x="4403218" y="-2591843"/>
            <a:ext cx="1629197" cy="7951652"/>
            <a:chOff x="0" y="0"/>
            <a:chExt cx="2354580" cy="11492046"/>
          </a:xfrm>
        </p:grpSpPr>
        <p:sp>
          <p:nvSpPr>
            <p:cNvPr name="Freeform 13" id="13"/>
            <p:cNvSpPr/>
            <p:nvPr/>
          </p:nvSpPr>
          <p:spPr>
            <a:xfrm flipH="false" flipV="false" rot="0">
              <a:off x="0" y="0"/>
              <a:ext cx="2353310" cy="11492046"/>
            </a:xfrm>
            <a:custGeom>
              <a:avLst/>
              <a:gdLst/>
              <a:ahLst/>
              <a:cxnLst/>
              <a:rect r="r" b="b" t="t" l="l"/>
              <a:pathLst>
                <a:path h="11492046" w="2353310">
                  <a:moveTo>
                    <a:pt x="784860" y="11424736"/>
                  </a:moveTo>
                  <a:cubicBezTo>
                    <a:pt x="905510" y="11465376"/>
                    <a:pt x="1042670" y="11492046"/>
                    <a:pt x="1177290" y="11492046"/>
                  </a:cubicBezTo>
                  <a:cubicBezTo>
                    <a:pt x="1311910" y="11492046"/>
                    <a:pt x="1441450" y="11469186"/>
                    <a:pt x="1560830" y="11428546"/>
                  </a:cubicBezTo>
                  <a:cubicBezTo>
                    <a:pt x="1563370" y="11427276"/>
                    <a:pt x="1565910" y="11427276"/>
                    <a:pt x="1568450" y="11426006"/>
                  </a:cubicBezTo>
                  <a:cubicBezTo>
                    <a:pt x="2016760" y="11263446"/>
                    <a:pt x="2346960" y="10834186"/>
                    <a:pt x="2353310" y="10306003"/>
                  </a:cubicBezTo>
                  <a:lnTo>
                    <a:pt x="2353310" y="0"/>
                  </a:lnTo>
                  <a:lnTo>
                    <a:pt x="0" y="0"/>
                  </a:lnTo>
                  <a:lnTo>
                    <a:pt x="0" y="10298100"/>
                  </a:lnTo>
                  <a:cubicBezTo>
                    <a:pt x="6350" y="10836726"/>
                    <a:pt x="331470" y="11265986"/>
                    <a:pt x="784860" y="11424736"/>
                  </a:cubicBezTo>
                  <a:close/>
                </a:path>
              </a:pathLst>
            </a:custGeom>
            <a:solidFill>
              <a:srgbClr val="2B4A9D"/>
            </a:solidFill>
          </p:spPr>
        </p:sp>
      </p:grpSp>
      <p:grpSp>
        <p:nvGrpSpPr>
          <p:cNvPr name="Group 14" id="14"/>
          <p:cNvGrpSpPr/>
          <p:nvPr/>
        </p:nvGrpSpPr>
        <p:grpSpPr>
          <a:xfrm rot="-5400000">
            <a:off x="-18751" y="4944243"/>
            <a:ext cx="829509" cy="1966473"/>
            <a:chOff x="0" y="0"/>
            <a:chExt cx="2354580" cy="5581882"/>
          </a:xfrm>
        </p:grpSpPr>
        <p:sp>
          <p:nvSpPr>
            <p:cNvPr name="Freeform 15" id="15"/>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grpSp>
        <p:nvGrpSpPr>
          <p:cNvPr name="Group 16" id="16"/>
          <p:cNvGrpSpPr/>
          <p:nvPr/>
        </p:nvGrpSpPr>
        <p:grpSpPr>
          <a:xfrm rot="-5400000">
            <a:off x="-18751" y="6984649"/>
            <a:ext cx="829509" cy="1966473"/>
            <a:chOff x="0" y="0"/>
            <a:chExt cx="2354580" cy="5581882"/>
          </a:xfrm>
        </p:grpSpPr>
        <p:sp>
          <p:nvSpPr>
            <p:cNvPr name="Freeform 17" id="17"/>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sp>
        <p:nvSpPr>
          <p:cNvPr name="Freeform 18" id="18"/>
          <p:cNvSpPr/>
          <p:nvPr/>
        </p:nvSpPr>
        <p:spPr>
          <a:xfrm flipH="false" flipV="false" rot="0">
            <a:off x="11669329" y="2829014"/>
            <a:ext cx="6628701" cy="5025214"/>
          </a:xfrm>
          <a:custGeom>
            <a:avLst/>
            <a:gdLst/>
            <a:ahLst/>
            <a:cxnLst/>
            <a:rect r="r" b="b" t="t" l="l"/>
            <a:pathLst>
              <a:path h="5025214" w="6628701">
                <a:moveTo>
                  <a:pt x="0" y="0"/>
                </a:moveTo>
                <a:lnTo>
                  <a:pt x="6628700" y="0"/>
                </a:lnTo>
                <a:lnTo>
                  <a:pt x="6628700" y="5025214"/>
                </a:lnTo>
                <a:lnTo>
                  <a:pt x="0" y="5025214"/>
                </a:lnTo>
                <a:lnTo>
                  <a:pt x="0" y="0"/>
                </a:lnTo>
                <a:close/>
              </a:path>
            </a:pathLst>
          </a:custGeom>
          <a:blipFill>
            <a:blip r:embed="rId2"/>
            <a:stretch>
              <a:fillRect l="0" t="0" r="0" b="0"/>
            </a:stretch>
          </a:blipFill>
        </p:spPr>
      </p:sp>
      <p:sp>
        <p:nvSpPr>
          <p:cNvPr name="TextBox 19" id="19"/>
          <p:cNvSpPr txBox="true"/>
          <p:nvPr/>
        </p:nvSpPr>
        <p:spPr>
          <a:xfrm rot="0">
            <a:off x="1585053" y="2809964"/>
            <a:ext cx="9778641" cy="2857500"/>
          </a:xfrm>
          <a:prstGeom prst="rect">
            <a:avLst/>
          </a:prstGeom>
        </p:spPr>
        <p:txBody>
          <a:bodyPr anchor="t" rtlCol="false" tIns="0" lIns="0" bIns="0" rIns="0">
            <a:spAutoFit/>
          </a:bodyPr>
          <a:lstStyle/>
          <a:p>
            <a:pPr algn="l">
              <a:lnSpc>
                <a:spcPts val="3750"/>
              </a:lnSpc>
            </a:pPr>
            <a:r>
              <a:rPr lang="en-US" sz="3000" spc="300">
                <a:solidFill>
                  <a:srgbClr val="000000"/>
                </a:solidFill>
                <a:latin typeface="Lato Italics"/>
              </a:rPr>
              <a:t>Researchers propose Artificial Neural Network (ANN) as an optimal choice for controller design, highlighting its potential for superior and highly precise control responses, especially in a field such as modern electric drives.</a:t>
            </a:r>
          </a:p>
          <a:p>
            <a:pPr algn="l">
              <a:lnSpc>
                <a:spcPts val="3750"/>
              </a:lnSpc>
            </a:pPr>
          </a:p>
        </p:txBody>
      </p:sp>
      <p:sp>
        <p:nvSpPr>
          <p:cNvPr name="TextBox 20" id="20"/>
          <p:cNvSpPr txBox="true"/>
          <p:nvPr/>
        </p:nvSpPr>
        <p:spPr>
          <a:xfrm rot="0">
            <a:off x="1534549" y="5648132"/>
            <a:ext cx="9979470" cy="1905000"/>
          </a:xfrm>
          <a:prstGeom prst="rect">
            <a:avLst/>
          </a:prstGeom>
        </p:spPr>
        <p:txBody>
          <a:bodyPr anchor="t" rtlCol="false" tIns="0" lIns="0" bIns="0" rIns="0">
            <a:spAutoFit/>
          </a:bodyPr>
          <a:lstStyle/>
          <a:p>
            <a:pPr algn="l">
              <a:lnSpc>
                <a:spcPts val="3750"/>
              </a:lnSpc>
            </a:pPr>
            <a:r>
              <a:rPr lang="en-US" sz="3000" spc="300">
                <a:solidFill>
                  <a:srgbClr val="000000"/>
                </a:solidFill>
                <a:latin typeface="Lato Italics"/>
              </a:rPr>
              <a:t>The key feature of ANN lies in its novel structure for information processing, enabling it to emulate the complexities of biological neural networks.</a:t>
            </a:r>
          </a:p>
          <a:p>
            <a:pPr algn="l">
              <a:lnSpc>
                <a:spcPts val="3750"/>
              </a:lnSpc>
            </a:pPr>
          </a:p>
        </p:txBody>
      </p:sp>
      <p:sp>
        <p:nvSpPr>
          <p:cNvPr name="TextBox 21" id="21"/>
          <p:cNvSpPr txBox="true"/>
          <p:nvPr/>
        </p:nvSpPr>
        <p:spPr>
          <a:xfrm rot="0">
            <a:off x="1585053" y="7715250"/>
            <a:ext cx="8926205" cy="1428750"/>
          </a:xfrm>
          <a:prstGeom prst="rect">
            <a:avLst/>
          </a:prstGeom>
        </p:spPr>
        <p:txBody>
          <a:bodyPr anchor="t" rtlCol="false" tIns="0" lIns="0" bIns="0" rIns="0">
            <a:spAutoFit/>
          </a:bodyPr>
          <a:lstStyle/>
          <a:p>
            <a:pPr algn="l">
              <a:lnSpc>
                <a:spcPts val="3750"/>
              </a:lnSpc>
            </a:pPr>
            <a:r>
              <a:rPr lang="en-US" sz="3000" spc="300">
                <a:solidFill>
                  <a:srgbClr val="000000"/>
                </a:solidFill>
                <a:latin typeface="Lato Italics"/>
              </a:rPr>
              <a:t>A Neural network is a kind of continuous-time dynamic system with high nonlinearity and good learning ability </a:t>
            </a:r>
          </a:p>
        </p:txBody>
      </p:sp>
      <p:sp>
        <p:nvSpPr>
          <p:cNvPr name="TextBox 22" id="22"/>
          <p:cNvSpPr txBox="true"/>
          <p:nvPr/>
        </p:nvSpPr>
        <p:spPr>
          <a:xfrm rot="0">
            <a:off x="754934" y="2762339"/>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1</a:t>
            </a:r>
          </a:p>
        </p:txBody>
      </p:sp>
      <p:sp>
        <p:nvSpPr>
          <p:cNvPr name="TextBox 23" id="23"/>
          <p:cNvSpPr txBox="true"/>
          <p:nvPr/>
        </p:nvSpPr>
        <p:spPr>
          <a:xfrm rot="0">
            <a:off x="772258" y="5632254"/>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2</a:t>
            </a:r>
          </a:p>
        </p:txBody>
      </p:sp>
      <p:sp>
        <p:nvSpPr>
          <p:cNvPr name="TextBox 24" id="24"/>
          <p:cNvSpPr txBox="true"/>
          <p:nvPr/>
        </p:nvSpPr>
        <p:spPr>
          <a:xfrm rot="0">
            <a:off x="754934" y="7672661"/>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3</a:t>
            </a:r>
          </a:p>
        </p:txBody>
      </p:sp>
      <p:sp>
        <p:nvSpPr>
          <p:cNvPr name="TextBox 25" id="25"/>
          <p:cNvSpPr txBox="true"/>
          <p:nvPr/>
        </p:nvSpPr>
        <p:spPr>
          <a:xfrm rot="0">
            <a:off x="1384225" y="893446"/>
            <a:ext cx="7648133" cy="1019175"/>
          </a:xfrm>
          <a:prstGeom prst="rect">
            <a:avLst/>
          </a:prstGeom>
        </p:spPr>
        <p:txBody>
          <a:bodyPr anchor="t" rtlCol="false" tIns="0" lIns="0" bIns="0" rIns="0">
            <a:spAutoFit/>
          </a:bodyPr>
          <a:lstStyle/>
          <a:p>
            <a:pPr algn="ctr">
              <a:lnSpc>
                <a:spcPts val="7349"/>
              </a:lnSpc>
            </a:pPr>
            <a:r>
              <a:rPr lang="en-US" sz="6999" spc="349">
                <a:solidFill>
                  <a:srgbClr val="FFFFFF"/>
                </a:solidFill>
                <a:latin typeface="Poppins Ultra-Bold"/>
              </a:rPr>
              <a:t>ANN OVERVIEW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336986" y="4082954"/>
            <a:ext cx="14447540" cy="5679806"/>
          </a:xfrm>
          <a:custGeom>
            <a:avLst/>
            <a:gdLst/>
            <a:ahLst/>
            <a:cxnLst/>
            <a:rect r="r" b="b" t="t" l="l"/>
            <a:pathLst>
              <a:path h="5679806" w="14447540">
                <a:moveTo>
                  <a:pt x="0" y="0"/>
                </a:moveTo>
                <a:lnTo>
                  <a:pt x="14447540" y="0"/>
                </a:lnTo>
                <a:lnTo>
                  <a:pt x="14447540" y="5679805"/>
                </a:lnTo>
                <a:lnTo>
                  <a:pt x="0" y="5679805"/>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RESULTS OF ANN</a:t>
            </a:r>
          </a:p>
        </p:txBody>
      </p:sp>
      <p:sp>
        <p:nvSpPr>
          <p:cNvPr name="TextBox 10" id="10"/>
          <p:cNvSpPr txBox="true"/>
          <p:nvPr/>
        </p:nvSpPr>
        <p:spPr>
          <a:xfrm rot="0">
            <a:off x="2965509" y="1878234"/>
            <a:ext cx="13435260" cy="490854"/>
          </a:xfrm>
          <a:prstGeom prst="rect">
            <a:avLst/>
          </a:prstGeom>
        </p:spPr>
        <p:txBody>
          <a:bodyPr anchor="t" rtlCol="false" tIns="0" lIns="0" bIns="0" rIns="0">
            <a:spAutoFit/>
          </a:bodyPr>
          <a:lstStyle/>
          <a:p>
            <a:pPr algn="ctr">
              <a:lnSpc>
                <a:spcPts val="3920"/>
              </a:lnSpc>
            </a:pPr>
          </a:p>
        </p:txBody>
      </p:sp>
      <p:sp>
        <p:nvSpPr>
          <p:cNvPr name="TextBox 11" id="11"/>
          <p:cNvSpPr txBox="true"/>
          <p:nvPr/>
        </p:nvSpPr>
        <p:spPr>
          <a:xfrm rot="0">
            <a:off x="2965509" y="2302414"/>
            <a:ext cx="13435260" cy="178054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The primary objective was to substitute the torque and flux sector estimator block, which harbors significant nonlinearity owing to the equations utilized, with a Neural Network.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649299" y="3087274"/>
            <a:ext cx="12530617" cy="5854148"/>
          </a:xfrm>
          <a:custGeom>
            <a:avLst/>
            <a:gdLst/>
            <a:ahLst/>
            <a:cxnLst/>
            <a:rect r="r" b="b" t="t" l="l"/>
            <a:pathLst>
              <a:path h="5854148" w="12530617">
                <a:moveTo>
                  <a:pt x="0" y="0"/>
                </a:moveTo>
                <a:lnTo>
                  <a:pt x="12530617" y="0"/>
                </a:lnTo>
                <a:lnTo>
                  <a:pt x="12530617" y="5854148"/>
                </a:lnTo>
                <a:lnTo>
                  <a:pt x="0" y="5854148"/>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SECTOR ANN</a:t>
            </a:r>
          </a:p>
        </p:txBody>
      </p:sp>
      <p:sp>
        <p:nvSpPr>
          <p:cNvPr name="TextBox 10" id="10"/>
          <p:cNvSpPr txBox="true"/>
          <p:nvPr/>
        </p:nvSpPr>
        <p:spPr>
          <a:xfrm rot="0">
            <a:off x="2965509" y="1878234"/>
            <a:ext cx="13435260" cy="490854"/>
          </a:xfrm>
          <a:prstGeom prst="rect">
            <a:avLst/>
          </a:prstGeom>
        </p:spPr>
        <p:txBody>
          <a:bodyPr anchor="t" rtlCol="false" tIns="0" lIns="0" bIns="0" rIns="0">
            <a:spAutoFit/>
          </a:bodyPr>
          <a:lstStyle/>
          <a:p>
            <a:pPr algn="ctr">
              <a:lnSpc>
                <a:spcPts val="3920"/>
              </a:lnSpc>
            </a:pPr>
          </a:p>
        </p:txBody>
      </p:sp>
      <p:sp>
        <p:nvSpPr>
          <p:cNvPr name="TextBox 11" id="11"/>
          <p:cNvSpPr txBox="true"/>
          <p:nvPr/>
        </p:nvSpPr>
        <p:spPr>
          <a:xfrm rot="0">
            <a:off x="2426370" y="2192559"/>
            <a:ext cx="1343526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Only activating the Sector ANN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236473" y="2940271"/>
            <a:ext cx="13439813" cy="6327529"/>
          </a:xfrm>
          <a:custGeom>
            <a:avLst/>
            <a:gdLst/>
            <a:ahLst/>
            <a:cxnLst/>
            <a:rect r="r" b="b" t="t" l="l"/>
            <a:pathLst>
              <a:path h="6327529" w="13439813">
                <a:moveTo>
                  <a:pt x="0" y="0"/>
                </a:moveTo>
                <a:lnTo>
                  <a:pt x="13439813" y="0"/>
                </a:lnTo>
                <a:lnTo>
                  <a:pt x="13439813" y="6327529"/>
                </a:lnTo>
                <a:lnTo>
                  <a:pt x="0" y="6327529"/>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FLUX ANN</a:t>
            </a:r>
          </a:p>
        </p:txBody>
      </p:sp>
      <p:sp>
        <p:nvSpPr>
          <p:cNvPr name="TextBox 10" id="10"/>
          <p:cNvSpPr txBox="true"/>
          <p:nvPr/>
        </p:nvSpPr>
        <p:spPr>
          <a:xfrm rot="0">
            <a:off x="2965509" y="1878234"/>
            <a:ext cx="13435260" cy="490854"/>
          </a:xfrm>
          <a:prstGeom prst="rect">
            <a:avLst/>
          </a:prstGeom>
        </p:spPr>
        <p:txBody>
          <a:bodyPr anchor="t" rtlCol="false" tIns="0" lIns="0" bIns="0" rIns="0">
            <a:spAutoFit/>
          </a:bodyPr>
          <a:lstStyle/>
          <a:p>
            <a:pPr algn="ctr">
              <a:lnSpc>
                <a:spcPts val="3920"/>
              </a:lnSpc>
            </a:pPr>
          </a:p>
        </p:txBody>
      </p:sp>
      <p:sp>
        <p:nvSpPr>
          <p:cNvPr name="TextBox 11" id="11"/>
          <p:cNvSpPr txBox="true"/>
          <p:nvPr/>
        </p:nvSpPr>
        <p:spPr>
          <a:xfrm rot="0">
            <a:off x="1916924" y="2045556"/>
            <a:ext cx="1343526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Only activating the Psi ANN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465147" y="3441302"/>
            <a:ext cx="13238511" cy="6081441"/>
          </a:xfrm>
          <a:custGeom>
            <a:avLst/>
            <a:gdLst/>
            <a:ahLst/>
            <a:cxnLst/>
            <a:rect r="r" b="b" t="t" l="l"/>
            <a:pathLst>
              <a:path h="6081441" w="13238511">
                <a:moveTo>
                  <a:pt x="0" y="0"/>
                </a:moveTo>
                <a:lnTo>
                  <a:pt x="13238511" y="0"/>
                </a:lnTo>
                <a:lnTo>
                  <a:pt x="13238511" y="6081441"/>
                </a:lnTo>
                <a:lnTo>
                  <a:pt x="0" y="6081441"/>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TORQUE ANN</a:t>
            </a:r>
          </a:p>
        </p:txBody>
      </p:sp>
      <p:sp>
        <p:nvSpPr>
          <p:cNvPr name="TextBox 10" id="10"/>
          <p:cNvSpPr txBox="true"/>
          <p:nvPr/>
        </p:nvSpPr>
        <p:spPr>
          <a:xfrm rot="0">
            <a:off x="2965509" y="1878234"/>
            <a:ext cx="13435260" cy="490854"/>
          </a:xfrm>
          <a:prstGeom prst="rect">
            <a:avLst/>
          </a:prstGeom>
        </p:spPr>
        <p:txBody>
          <a:bodyPr anchor="t" rtlCol="false" tIns="0" lIns="0" bIns="0" rIns="0">
            <a:spAutoFit/>
          </a:bodyPr>
          <a:lstStyle/>
          <a:p>
            <a:pPr algn="ctr">
              <a:lnSpc>
                <a:spcPts val="3920"/>
              </a:lnSpc>
            </a:pPr>
          </a:p>
        </p:txBody>
      </p:sp>
      <p:sp>
        <p:nvSpPr>
          <p:cNvPr name="TextBox 11" id="11"/>
          <p:cNvSpPr txBox="true"/>
          <p:nvPr/>
        </p:nvSpPr>
        <p:spPr>
          <a:xfrm rot="0">
            <a:off x="2426370" y="2408904"/>
            <a:ext cx="1343526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Only activating the Torque ANN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7834" y="2425592"/>
            <a:ext cx="9968424" cy="1259922"/>
            <a:chOff x="0" y="0"/>
            <a:chExt cx="3636508" cy="459623"/>
          </a:xfrm>
        </p:grpSpPr>
        <p:sp>
          <p:nvSpPr>
            <p:cNvPr name="Freeform 3" id="3"/>
            <p:cNvSpPr/>
            <p:nvPr/>
          </p:nvSpPr>
          <p:spPr>
            <a:xfrm flipH="false" flipV="false" rot="0">
              <a:off x="0" y="0"/>
              <a:ext cx="3636508" cy="459623"/>
            </a:xfrm>
            <a:custGeom>
              <a:avLst/>
              <a:gdLst/>
              <a:ahLst/>
              <a:cxnLst/>
              <a:rect r="r" b="b" t="t" l="l"/>
              <a:pathLst>
                <a:path h="459623" w="3636508">
                  <a:moveTo>
                    <a:pt x="0" y="0"/>
                  </a:moveTo>
                  <a:lnTo>
                    <a:pt x="3636508" y="0"/>
                  </a:lnTo>
                  <a:lnTo>
                    <a:pt x="3636508" y="459623"/>
                  </a:lnTo>
                  <a:lnTo>
                    <a:pt x="0" y="459623"/>
                  </a:lnTo>
                  <a:close/>
                </a:path>
              </a:pathLst>
            </a:custGeom>
            <a:solidFill>
              <a:srgbClr val="2B4A9D"/>
            </a:solidFill>
          </p:spPr>
        </p:sp>
      </p:grpSp>
      <p:grpSp>
        <p:nvGrpSpPr>
          <p:cNvPr name="Group 4" id="4"/>
          <p:cNvGrpSpPr/>
          <p:nvPr/>
        </p:nvGrpSpPr>
        <p:grpSpPr>
          <a:xfrm rot="-2700000">
            <a:off x="-3283041" y="-3283041"/>
            <a:ext cx="6566081" cy="6566081"/>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6" id="6"/>
          <p:cNvGrpSpPr/>
          <p:nvPr/>
        </p:nvGrpSpPr>
        <p:grpSpPr>
          <a:xfrm rot="2700000">
            <a:off x="-2926440" y="-2926440"/>
            <a:ext cx="5852880" cy="5852880"/>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8" id="8"/>
          <p:cNvGrpSpPr/>
          <p:nvPr/>
        </p:nvGrpSpPr>
        <p:grpSpPr>
          <a:xfrm rot="-2700000">
            <a:off x="-3283041" y="7003959"/>
            <a:ext cx="6566081" cy="6566081"/>
            <a:chOff x="0" y="0"/>
            <a:chExt cx="1913890" cy="1913890"/>
          </a:xfrm>
        </p:grpSpPr>
        <p:sp>
          <p:nvSpPr>
            <p:cNvPr name="Freeform 9" id="9"/>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10" id="10"/>
          <p:cNvGrpSpPr/>
          <p:nvPr/>
        </p:nvGrpSpPr>
        <p:grpSpPr>
          <a:xfrm rot="2700000">
            <a:off x="-2926440" y="7360560"/>
            <a:ext cx="5852880" cy="5852880"/>
            <a:chOff x="0" y="0"/>
            <a:chExt cx="1913890" cy="1913890"/>
          </a:xfrm>
        </p:grpSpPr>
        <p:sp>
          <p:nvSpPr>
            <p:cNvPr name="Freeform 11" id="11"/>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12" id="12"/>
          <p:cNvGrpSpPr/>
          <p:nvPr/>
        </p:nvGrpSpPr>
        <p:grpSpPr>
          <a:xfrm rot="-2700000">
            <a:off x="-3283041" y="8117325"/>
            <a:ext cx="6566081" cy="6566081"/>
            <a:chOff x="0" y="0"/>
            <a:chExt cx="1913890" cy="1913890"/>
          </a:xfrm>
        </p:grpSpPr>
        <p:sp>
          <p:nvSpPr>
            <p:cNvPr name="Freeform 13" id="1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5271FF"/>
            </a:solidFill>
          </p:spPr>
        </p:sp>
      </p:grpSp>
      <p:grpSp>
        <p:nvGrpSpPr>
          <p:cNvPr name="Group 14" id="14"/>
          <p:cNvGrpSpPr/>
          <p:nvPr/>
        </p:nvGrpSpPr>
        <p:grpSpPr>
          <a:xfrm rot="2700000">
            <a:off x="-2926440" y="8473925"/>
            <a:ext cx="5852880" cy="5852880"/>
            <a:chOff x="0" y="0"/>
            <a:chExt cx="1913890" cy="1913890"/>
          </a:xfrm>
        </p:grpSpPr>
        <p:sp>
          <p:nvSpPr>
            <p:cNvPr name="Freeform 15" id="1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sp>
        <p:nvSpPr>
          <p:cNvPr name="TextBox 16" id="16"/>
          <p:cNvSpPr txBox="true"/>
          <p:nvPr/>
        </p:nvSpPr>
        <p:spPr>
          <a:xfrm rot="0">
            <a:off x="1012282" y="4029075"/>
            <a:ext cx="9233976" cy="22574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LONG SHORT TERM MEMORY</a:t>
            </a:r>
          </a:p>
        </p:txBody>
      </p:sp>
      <p:grpSp>
        <p:nvGrpSpPr>
          <p:cNvPr name="Group 17" id="17"/>
          <p:cNvGrpSpPr/>
          <p:nvPr/>
        </p:nvGrpSpPr>
        <p:grpSpPr>
          <a:xfrm rot="0">
            <a:off x="10129326" y="0"/>
            <a:ext cx="8158674" cy="10287000"/>
            <a:chOff x="0" y="0"/>
            <a:chExt cx="2976306" cy="3752725"/>
          </a:xfrm>
        </p:grpSpPr>
        <p:sp>
          <p:nvSpPr>
            <p:cNvPr name="Freeform 18" id="18"/>
            <p:cNvSpPr/>
            <p:nvPr/>
          </p:nvSpPr>
          <p:spPr>
            <a:xfrm flipH="false" flipV="false" rot="0">
              <a:off x="0" y="0"/>
              <a:ext cx="2976306" cy="3752726"/>
            </a:xfrm>
            <a:custGeom>
              <a:avLst/>
              <a:gdLst/>
              <a:ahLst/>
              <a:cxnLst/>
              <a:rect r="r" b="b" t="t" l="l"/>
              <a:pathLst>
                <a:path h="3752726" w="2976306">
                  <a:moveTo>
                    <a:pt x="0" y="0"/>
                  </a:moveTo>
                  <a:lnTo>
                    <a:pt x="2976306" y="0"/>
                  </a:lnTo>
                  <a:lnTo>
                    <a:pt x="2976306" y="3752726"/>
                  </a:lnTo>
                  <a:lnTo>
                    <a:pt x="0" y="3752726"/>
                  </a:lnTo>
                  <a:close/>
                </a:path>
              </a:pathLst>
            </a:custGeom>
            <a:solidFill>
              <a:srgbClr val="2B4A9D"/>
            </a:solidFill>
          </p:spPr>
        </p:sp>
      </p:grpSp>
      <p:sp>
        <p:nvSpPr>
          <p:cNvPr name="Freeform 19" id="19"/>
          <p:cNvSpPr/>
          <p:nvPr/>
        </p:nvSpPr>
        <p:spPr>
          <a:xfrm flipH="false" flipV="false" rot="0">
            <a:off x="12069485" y="3358259"/>
            <a:ext cx="4278356" cy="3570483"/>
          </a:xfrm>
          <a:custGeom>
            <a:avLst/>
            <a:gdLst/>
            <a:ahLst/>
            <a:cxnLst/>
            <a:rect r="r" b="b" t="t" l="l"/>
            <a:pathLst>
              <a:path h="3570483" w="4278356">
                <a:moveTo>
                  <a:pt x="0" y="0"/>
                </a:moveTo>
                <a:lnTo>
                  <a:pt x="4278356" y="0"/>
                </a:lnTo>
                <a:lnTo>
                  <a:pt x="4278356" y="3570482"/>
                </a:lnTo>
                <a:lnTo>
                  <a:pt x="0" y="3570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6816" y="0"/>
            <a:ext cx="452408" cy="10287000"/>
            <a:chOff x="0" y="0"/>
            <a:chExt cx="165040" cy="3752725"/>
          </a:xfrm>
        </p:grpSpPr>
        <p:sp>
          <p:nvSpPr>
            <p:cNvPr name="Freeform 3" id="3"/>
            <p:cNvSpPr/>
            <p:nvPr/>
          </p:nvSpPr>
          <p:spPr>
            <a:xfrm flipH="false" flipV="false" rot="0">
              <a:off x="0" y="0"/>
              <a:ext cx="165040" cy="3752726"/>
            </a:xfrm>
            <a:custGeom>
              <a:avLst/>
              <a:gdLst/>
              <a:ahLst/>
              <a:cxnLst/>
              <a:rect r="r" b="b" t="t" l="l"/>
              <a:pathLst>
                <a:path h="3752726" w="165040">
                  <a:moveTo>
                    <a:pt x="0" y="0"/>
                  </a:moveTo>
                  <a:lnTo>
                    <a:pt x="165040" y="0"/>
                  </a:lnTo>
                  <a:lnTo>
                    <a:pt x="165040" y="3752726"/>
                  </a:lnTo>
                  <a:lnTo>
                    <a:pt x="0" y="3752726"/>
                  </a:lnTo>
                  <a:close/>
                </a:path>
              </a:pathLst>
            </a:custGeom>
            <a:solidFill>
              <a:srgbClr val="2B4A9D"/>
            </a:solidFill>
          </p:spPr>
        </p:sp>
      </p:grpSp>
      <p:grpSp>
        <p:nvGrpSpPr>
          <p:cNvPr name="Group 4" id="4"/>
          <p:cNvGrpSpPr/>
          <p:nvPr/>
        </p:nvGrpSpPr>
        <p:grpSpPr>
          <a:xfrm rot="0">
            <a:off x="11354223" y="7686945"/>
            <a:ext cx="6933777" cy="3142710"/>
            <a:chOff x="0" y="0"/>
            <a:chExt cx="2529461" cy="1146469"/>
          </a:xfrm>
        </p:grpSpPr>
        <p:sp>
          <p:nvSpPr>
            <p:cNvPr name="Freeform 5" id="5"/>
            <p:cNvSpPr/>
            <p:nvPr/>
          </p:nvSpPr>
          <p:spPr>
            <a:xfrm flipH="false" flipV="false" rot="0">
              <a:off x="0" y="0"/>
              <a:ext cx="2529461" cy="1146469"/>
            </a:xfrm>
            <a:custGeom>
              <a:avLst/>
              <a:gdLst/>
              <a:ahLst/>
              <a:cxnLst/>
              <a:rect r="r" b="b" t="t" l="l"/>
              <a:pathLst>
                <a:path h="1146469" w="2529461">
                  <a:moveTo>
                    <a:pt x="0" y="0"/>
                  </a:moveTo>
                  <a:lnTo>
                    <a:pt x="2529461" y="0"/>
                  </a:lnTo>
                  <a:lnTo>
                    <a:pt x="2529461" y="1146469"/>
                  </a:lnTo>
                  <a:lnTo>
                    <a:pt x="0" y="1146469"/>
                  </a:lnTo>
                  <a:close/>
                </a:path>
              </a:pathLst>
            </a:custGeom>
            <a:solidFill>
              <a:srgbClr val="2B4A9D"/>
            </a:solidFill>
          </p:spPr>
        </p:sp>
      </p:grpSp>
      <p:grpSp>
        <p:nvGrpSpPr>
          <p:cNvPr name="Group 6" id="6"/>
          <p:cNvGrpSpPr/>
          <p:nvPr/>
        </p:nvGrpSpPr>
        <p:grpSpPr>
          <a:xfrm rot="-5400000">
            <a:off x="613946" y="745865"/>
            <a:ext cx="829509" cy="1966473"/>
            <a:chOff x="0" y="0"/>
            <a:chExt cx="2354580" cy="5581882"/>
          </a:xfrm>
        </p:grpSpPr>
        <p:sp>
          <p:nvSpPr>
            <p:cNvPr name="Freeform 7" id="7"/>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sp>
        <p:nvSpPr>
          <p:cNvPr name="TextBox 8" id="8"/>
          <p:cNvSpPr txBox="true"/>
          <p:nvPr/>
        </p:nvSpPr>
        <p:spPr>
          <a:xfrm rot="0">
            <a:off x="2066679" y="1213145"/>
            <a:ext cx="8926205" cy="2305367"/>
          </a:xfrm>
          <a:prstGeom prst="rect">
            <a:avLst/>
          </a:prstGeom>
        </p:spPr>
        <p:txBody>
          <a:bodyPr anchor="t" rtlCol="false" tIns="0" lIns="0" bIns="0" rIns="0">
            <a:spAutoFit/>
          </a:bodyPr>
          <a:lstStyle/>
          <a:p>
            <a:pPr algn="l">
              <a:lnSpc>
                <a:spcPts val="3625"/>
              </a:lnSpc>
            </a:pPr>
            <a:r>
              <a:rPr lang="en-US" sz="2900" spc="290">
                <a:solidFill>
                  <a:srgbClr val="000000"/>
                </a:solidFill>
                <a:latin typeface="Lato Italics"/>
              </a:rPr>
              <a:t>RNNs face challenges in learning long-term dependencies due to the limitation of having only one hidden state transferred through time.</a:t>
            </a:r>
          </a:p>
          <a:p>
            <a:pPr algn="l">
              <a:lnSpc>
                <a:spcPts val="3750"/>
              </a:lnSpc>
            </a:pPr>
          </a:p>
        </p:txBody>
      </p:sp>
      <p:grpSp>
        <p:nvGrpSpPr>
          <p:cNvPr name="Group 9" id="9"/>
          <p:cNvGrpSpPr/>
          <p:nvPr/>
        </p:nvGrpSpPr>
        <p:grpSpPr>
          <a:xfrm rot="-5400000">
            <a:off x="613946" y="2879375"/>
            <a:ext cx="829509" cy="1966473"/>
            <a:chOff x="0" y="0"/>
            <a:chExt cx="2354580" cy="5581882"/>
          </a:xfrm>
        </p:grpSpPr>
        <p:sp>
          <p:nvSpPr>
            <p:cNvPr name="Freeform 10" id="10"/>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sp>
        <p:nvSpPr>
          <p:cNvPr name="TextBox 11" id="11"/>
          <p:cNvSpPr txBox="true"/>
          <p:nvPr/>
        </p:nvSpPr>
        <p:spPr>
          <a:xfrm rot="0">
            <a:off x="2163596" y="3360293"/>
            <a:ext cx="8732370" cy="6565703"/>
          </a:xfrm>
          <a:prstGeom prst="rect">
            <a:avLst/>
          </a:prstGeom>
        </p:spPr>
        <p:txBody>
          <a:bodyPr anchor="t" rtlCol="false" tIns="0" lIns="0" bIns="0" rIns="0">
            <a:spAutoFit/>
          </a:bodyPr>
          <a:lstStyle/>
          <a:p>
            <a:pPr algn="l">
              <a:lnSpc>
                <a:spcPts val="3697"/>
              </a:lnSpc>
            </a:pPr>
            <a:r>
              <a:rPr lang="en-US" sz="2958" spc="295">
                <a:solidFill>
                  <a:srgbClr val="000000"/>
                </a:solidFill>
                <a:latin typeface="Lato Italics"/>
              </a:rPr>
              <a:t>LSTMs address this issue by introducing memory cells that can store information for extended periods, making them ideal for tasks like time series forecasting.</a:t>
            </a:r>
          </a:p>
          <a:p>
            <a:pPr algn="l">
              <a:lnSpc>
                <a:spcPts val="3697"/>
              </a:lnSpc>
            </a:pPr>
          </a:p>
          <a:p>
            <a:pPr algn="l">
              <a:lnSpc>
                <a:spcPts val="3697"/>
              </a:lnSpc>
            </a:pPr>
            <a:r>
              <a:rPr lang="en-US" sz="2958" spc="295">
                <a:solidFill>
                  <a:srgbClr val="000000"/>
                </a:solidFill>
                <a:latin typeface="Lato Italics"/>
              </a:rPr>
              <a:t>LSTMs employ three gates—the input gate, forget gate, and output gate—to control the flow of information within the memory cell. The input gate determines what data is added to the memory cell, the forget gate manages data erasure, and the output gate regulates the data output from the memory cell.</a:t>
            </a:r>
          </a:p>
          <a:p>
            <a:pPr algn="l">
              <a:lnSpc>
                <a:spcPts val="3697"/>
              </a:lnSpc>
            </a:pPr>
          </a:p>
        </p:txBody>
      </p:sp>
      <p:grpSp>
        <p:nvGrpSpPr>
          <p:cNvPr name="Group 12" id="12"/>
          <p:cNvGrpSpPr/>
          <p:nvPr/>
        </p:nvGrpSpPr>
        <p:grpSpPr>
          <a:xfrm rot="-5400000">
            <a:off x="613946" y="5013809"/>
            <a:ext cx="829509" cy="1966473"/>
            <a:chOff x="0" y="0"/>
            <a:chExt cx="2354580" cy="5581882"/>
          </a:xfrm>
        </p:grpSpPr>
        <p:sp>
          <p:nvSpPr>
            <p:cNvPr name="Freeform 13" id="13"/>
            <p:cNvSpPr/>
            <p:nvPr/>
          </p:nvSpPr>
          <p:spPr>
            <a:xfrm flipH="false" flipV="false" rot="0">
              <a:off x="0" y="0"/>
              <a:ext cx="2353310" cy="5581882"/>
            </a:xfrm>
            <a:custGeom>
              <a:avLst/>
              <a:gdLst/>
              <a:ahLst/>
              <a:cxnLst/>
              <a:rect r="r" b="b" t="t" l="l"/>
              <a:pathLst>
                <a:path h="5581882" w="2353310">
                  <a:moveTo>
                    <a:pt x="784860" y="5514572"/>
                  </a:moveTo>
                  <a:cubicBezTo>
                    <a:pt x="905510" y="5555212"/>
                    <a:pt x="1042670" y="5581882"/>
                    <a:pt x="1177290" y="5581882"/>
                  </a:cubicBezTo>
                  <a:cubicBezTo>
                    <a:pt x="1311910" y="5581882"/>
                    <a:pt x="1441450" y="5559022"/>
                    <a:pt x="1560830" y="5518382"/>
                  </a:cubicBezTo>
                  <a:cubicBezTo>
                    <a:pt x="1563370" y="5517112"/>
                    <a:pt x="1565910" y="5517112"/>
                    <a:pt x="1568450" y="5515842"/>
                  </a:cubicBezTo>
                  <a:cubicBezTo>
                    <a:pt x="2016760" y="5353282"/>
                    <a:pt x="2346960" y="4924022"/>
                    <a:pt x="2353310" y="4414024"/>
                  </a:cubicBezTo>
                  <a:lnTo>
                    <a:pt x="2353310" y="0"/>
                  </a:lnTo>
                  <a:lnTo>
                    <a:pt x="0" y="0"/>
                  </a:lnTo>
                  <a:lnTo>
                    <a:pt x="0" y="4410668"/>
                  </a:lnTo>
                  <a:cubicBezTo>
                    <a:pt x="6350" y="4926562"/>
                    <a:pt x="331470" y="5355822"/>
                    <a:pt x="784860" y="5514572"/>
                  </a:cubicBezTo>
                  <a:close/>
                </a:path>
              </a:pathLst>
            </a:custGeom>
            <a:solidFill>
              <a:srgbClr val="2B4A9D"/>
            </a:solidFill>
          </p:spPr>
        </p:sp>
      </p:grpSp>
      <p:grpSp>
        <p:nvGrpSpPr>
          <p:cNvPr name="Group 14" id="14"/>
          <p:cNvGrpSpPr/>
          <p:nvPr/>
        </p:nvGrpSpPr>
        <p:grpSpPr>
          <a:xfrm rot="2700000">
            <a:off x="-1461826" y="-6412315"/>
            <a:ext cx="6164339" cy="6164339"/>
            <a:chOff x="0" y="0"/>
            <a:chExt cx="1913890" cy="1913890"/>
          </a:xfrm>
        </p:grpSpPr>
        <p:sp>
          <p:nvSpPr>
            <p:cNvPr name="Freeform 15" id="1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grpSp>
        <p:nvGrpSpPr>
          <p:cNvPr name="Group 16" id="16"/>
          <p:cNvGrpSpPr/>
          <p:nvPr/>
        </p:nvGrpSpPr>
        <p:grpSpPr>
          <a:xfrm rot="2700000">
            <a:off x="-1983530" y="10107633"/>
            <a:ext cx="6164339" cy="6164339"/>
            <a:chOff x="0" y="0"/>
            <a:chExt cx="1913890" cy="1913890"/>
          </a:xfrm>
        </p:grpSpPr>
        <p:sp>
          <p:nvSpPr>
            <p:cNvPr name="Freeform 17" id="1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sp>
        <p:nvSpPr>
          <p:cNvPr name="Freeform 18" id="18"/>
          <p:cNvSpPr/>
          <p:nvPr/>
        </p:nvSpPr>
        <p:spPr>
          <a:xfrm flipH="false" flipV="false" rot="0">
            <a:off x="10689545" y="3156568"/>
            <a:ext cx="8263132" cy="4183261"/>
          </a:xfrm>
          <a:custGeom>
            <a:avLst/>
            <a:gdLst/>
            <a:ahLst/>
            <a:cxnLst/>
            <a:rect r="r" b="b" t="t" l="l"/>
            <a:pathLst>
              <a:path h="4183261" w="8263132">
                <a:moveTo>
                  <a:pt x="0" y="0"/>
                </a:moveTo>
                <a:lnTo>
                  <a:pt x="8263133" y="0"/>
                </a:lnTo>
                <a:lnTo>
                  <a:pt x="8263133" y="4183260"/>
                </a:lnTo>
                <a:lnTo>
                  <a:pt x="0" y="4183260"/>
                </a:lnTo>
                <a:lnTo>
                  <a:pt x="0" y="0"/>
                </a:lnTo>
                <a:close/>
              </a:path>
            </a:pathLst>
          </a:custGeom>
          <a:blipFill>
            <a:blip r:embed="rId2"/>
            <a:stretch>
              <a:fillRect l="0" t="0" r="0" b="0"/>
            </a:stretch>
          </a:blipFill>
        </p:spPr>
      </p:sp>
      <p:sp>
        <p:nvSpPr>
          <p:cNvPr name="TextBox 19" id="19"/>
          <p:cNvSpPr txBox="true"/>
          <p:nvPr/>
        </p:nvSpPr>
        <p:spPr>
          <a:xfrm rot="0">
            <a:off x="1376816" y="1433877"/>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1</a:t>
            </a:r>
          </a:p>
        </p:txBody>
      </p:sp>
      <p:sp>
        <p:nvSpPr>
          <p:cNvPr name="TextBox 20" id="20"/>
          <p:cNvSpPr txBox="true"/>
          <p:nvPr/>
        </p:nvSpPr>
        <p:spPr>
          <a:xfrm rot="0">
            <a:off x="1098640" y="3567387"/>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2</a:t>
            </a:r>
          </a:p>
        </p:txBody>
      </p:sp>
      <p:sp>
        <p:nvSpPr>
          <p:cNvPr name="TextBox 21" id="21"/>
          <p:cNvSpPr txBox="true"/>
          <p:nvPr/>
        </p:nvSpPr>
        <p:spPr>
          <a:xfrm rot="0">
            <a:off x="1342168" y="5701820"/>
            <a:ext cx="487056" cy="523775"/>
          </a:xfrm>
          <a:prstGeom prst="rect">
            <a:avLst/>
          </a:prstGeom>
        </p:spPr>
        <p:txBody>
          <a:bodyPr anchor="t" rtlCol="false" tIns="0" lIns="0" bIns="0" rIns="0">
            <a:spAutoFit/>
          </a:bodyPr>
          <a:lstStyle/>
          <a:p>
            <a:pPr algn="ctr">
              <a:lnSpc>
                <a:spcPts val="4200"/>
              </a:lnSpc>
            </a:pPr>
            <a:r>
              <a:rPr lang="en-US" sz="3000" spc="300">
                <a:solidFill>
                  <a:srgbClr val="FFFFFF"/>
                </a:solidFill>
                <a:latin typeface="Lato Bold"/>
              </a:rPr>
              <a:t>3</a:t>
            </a:r>
          </a:p>
        </p:txBody>
      </p:sp>
      <p:grpSp>
        <p:nvGrpSpPr>
          <p:cNvPr name="Group 22" id="22"/>
          <p:cNvGrpSpPr/>
          <p:nvPr/>
        </p:nvGrpSpPr>
        <p:grpSpPr>
          <a:xfrm rot="0">
            <a:off x="11354223" y="-542655"/>
            <a:ext cx="6933777" cy="3142710"/>
            <a:chOff x="0" y="0"/>
            <a:chExt cx="2529461" cy="1146469"/>
          </a:xfrm>
        </p:grpSpPr>
        <p:sp>
          <p:nvSpPr>
            <p:cNvPr name="Freeform 23" id="23"/>
            <p:cNvSpPr/>
            <p:nvPr/>
          </p:nvSpPr>
          <p:spPr>
            <a:xfrm flipH="false" flipV="false" rot="0">
              <a:off x="0" y="0"/>
              <a:ext cx="2529461" cy="1146469"/>
            </a:xfrm>
            <a:custGeom>
              <a:avLst/>
              <a:gdLst/>
              <a:ahLst/>
              <a:cxnLst/>
              <a:rect r="r" b="b" t="t" l="l"/>
              <a:pathLst>
                <a:path h="1146469" w="2529461">
                  <a:moveTo>
                    <a:pt x="0" y="0"/>
                  </a:moveTo>
                  <a:lnTo>
                    <a:pt x="2529461" y="0"/>
                  </a:lnTo>
                  <a:lnTo>
                    <a:pt x="2529461" y="1146469"/>
                  </a:lnTo>
                  <a:lnTo>
                    <a:pt x="0" y="1146469"/>
                  </a:lnTo>
                  <a:close/>
                </a:path>
              </a:pathLst>
            </a:custGeom>
            <a:solidFill>
              <a:srgbClr val="2B4A9D"/>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B4A9D"/>
            </a:solidFill>
          </p:spPr>
        </p:sp>
      </p:grpSp>
      <p:grpSp>
        <p:nvGrpSpPr>
          <p:cNvPr name="Group 4" id="4"/>
          <p:cNvGrpSpPr/>
          <p:nvPr/>
        </p:nvGrpSpPr>
        <p:grpSpPr>
          <a:xfrm rot="0">
            <a:off x="718458" y="566151"/>
            <a:ext cx="2396931" cy="9154697"/>
            <a:chOff x="0" y="0"/>
            <a:chExt cx="874407" cy="3339658"/>
          </a:xfrm>
        </p:grpSpPr>
        <p:sp>
          <p:nvSpPr>
            <p:cNvPr name="Freeform 5" id="5"/>
            <p:cNvSpPr/>
            <p:nvPr/>
          </p:nvSpPr>
          <p:spPr>
            <a:xfrm flipH="false" flipV="false" rot="0">
              <a:off x="0" y="0"/>
              <a:ext cx="874407" cy="3339659"/>
            </a:xfrm>
            <a:custGeom>
              <a:avLst/>
              <a:gdLst/>
              <a:ahLst/>
              <a:cxnLst/>
              <a:rect r="r" b="b" t="t" l="l"/>
              <a:pathLst>
                <a:path h="3339659" w="874407">
                  <a:moveTo>
                    <a:pt x="0" y="0"/>
                  </a:moveTo>
                  <a:lnTo>
                    <a:pt x="874407" y="0"/>
                  </a:lnTo>
                  <a:lnTo>
                    <a:pt x="874407" y="3339659"/>
                  </a:lnTo>
                  <a:lnTo>
                    <a:pt x="0" y="3339659"/>
                  </a:lnTo>
                  <a:close/>
                </a:path>
              </a:pathLst>
            </a:custGeom>
            <a:solidFill>
              <a:srgbClr val="5271FF"/>
            </a:solidFill>
          </p:spPr>
        </p:sp>
      </p:grpSp>
      <p:grpSp>
        <p:nvGrpSpPr>
          <p:cNvPr name="Group 6" id="6"/>
          <p:cNvGrpSpPr/>
          <p:nvPr/>
        </p:nvGrpSpPr>
        <p:grpSpPr>
          <a:xfrm rot="0">
            <a:off x="3336986" y="-9994"/>
            <a:ext cx="14951014" cy="417760"/>
            <a:chOff x="0" y="0"/>
            <a:chExt cx="5454170" cy="152400"/>
          </a:xfrm>
        </p:grpSpPr>
        <p:sp>
          <p:nvSpPr>
            <p:cNvPr name="Freeform 7" id="7"/>
            <p:cNvSpPr/>
            <p:nvPr/>
          </p:nvSpPr>
          <p:spPr>
            <a:xfrm flipH="false" flipV="false" rot="0">
              <a:off x="0" y="0"/>
              <a:ext cx="5454171" cy="152400"/>
            </a:xfrm>
            <a:custGeom>
              <a:avLst/>
              <a:gdLst/>
              <a:ahLst/>
              <a:cxnLst/>
              <a:rect r="r" b="b" t="t" l="l"/>
              <a:pathLst>
                <a:path h="152400" w="5454171">
                  <a:moveTo>
                    <a:pt x="0" y="0"/>
                  </a:moveTo>
                  <a:lnTo>
                    <a:pt x="5454171" y="0"/>
                  </a:lnTo>
                  <a:lnTo>
                    <a:pt x="5454171" y="152400"/>
                  </a:lnTo>
                  <a:lnTo>
                    <a:pt x="0" y="152400"/>
                  </a:lnTo>
                  <a:close/>
                </a:path>
              </a:pathLst>
            </a:custGeom>
            <a:solidFill>
              <a:srgbClr val="2B4A9D"/>
            </a:solidFill>
          </p:spPr>
        </p:sp>
      </p:grpSp>
      <p:sp>
        <p:nvSpPr>
          <p:cNvPr name="Freeform 8" id="8"/>
          <p:cNvSpPr/>
          <p:nvPr/>
        </p:nvSpPr>
        <p:spPr>
          <a:xfrm flipH="false" flipV="false" rot="0">
            <a:off x="3115389" y="4809394"/>
            <a:ext cx="13980115" cy="2174685"/>
          </a:xfrm>
          <a:custGeom>
            <a:avLst/>
            <a:gdLst/>
            <a:ahLst/>
            <a:cxnLst/>
            <a:rect r="r" b="b" t="t" l="l"/>
            <a:pathLst>
              <a:path h="2174685" w="13980115">
                <a:moveTo>
                  <a:pt x="0" y="0"/>
                </a:moveTo>
                <a:lnTo>
                  <a:pt x="13980116" y="0"/>
                </a:lnTo>
                <a:lnTo>
                  <a:pt x="13980116" y="2174685"/>
                </a:lnTo>
                <a:lnTo>
                  <a:pt x="0" y="2174685"/>
                </a:lnTo>
                <a:lnTo>
                  <a:pt x="0" y="0"/>
                </a:lnTo>
                <a:close/>
              </a:path>
            </a:pathLst>
          </a:custGeom>
          <a:blipFill>
            <a:blip r:embed="rId2"/>
            <a:stretch>
              <a:fillRect l="0" t="0" r="0" b="0"/>
            </a:stretch>
          </a:blipFill>
        </p:spPr>
      </p:sp>
      <p:sp>
        <p:nvSpPr>
          <p:cNvPr name="TextBox 9" id="9"/>
          <p:cNvSpPr txBox="true"/>
          <p:nvPr/>
        </p:nvSpPr>
        <p:spPr>
          <a:xfrm rot="0">
            <a:off x="3649299" y="754284"/>
            <a:ext cx="9586145" cy="1190625"/>
          </a:xfrm>
          <a:prstGeom prst="rect">
            <a:avLst/>
          </a:prstGeom>
        </p:spPr>
        <p:txBody>
          <a:bodyPr anchor="t" rtlCol="false" tIns="0" lIns="0" bIns="0" rIns="0">
            <a:spAutoFit/>
          </a:bodyPr>
          <a:lstStyle/>
          <a:p>
            <a:pPr algn="ctr">
              <a:lnSpc>
                <a:spcPts val="8400"/>
              </a:lnSpc>
            </a:pPr>
            <a:r>
              <a:rPr lang="en-US" sz="8000" spc="400">
                <a:solidFill>
                  <a:srgbClr val="2B4A9D"/>
                </a:solidFill>
                <a:latin typeface="Poppins Ultra-Bold"/>
              </a:rPr>
              <a:t>RESULTS OF LSTM</a:t>
            </a:r>
          </a:p>
        </p:txBody>
      </p:sp>
      <p:sp>
        <p:nvSpPr>
          <p:cNvPr name="TextBox 10" id="10"/>
          <p:cNvSpPr txBox="true"/>
          <p:nvPr/>
        </p:nvSpPr>
        <p:spPr>
          <a:xfrm rot="0">
            <a:off x="2965509" y="1878234"/>
            <a:ext cx="13435260" cy="490854"/>
          </a:xfrm>
          <a:prstGeom prst="rect">
            <a:avLst/>
          </a:prstGeom>
        </p:spPr>
        <p:txBody>
          <a:bodyPr anchor="t" rtlCol="false" tIns="0" lIns="0" bIns="0" rIns="0">
            <a:spAutoFit/>
          </a:bodyPr>
          <a:lstStyle/>
          <a:p>
            <a:pPr algn="ctr">
              <a:lnSpc>
                <a:spcPts val="3920"/>
              </a:lnSpc>
            </a:pPr>
          </a:p>
        </p:txBody>
      </p:sp>
      <p:sp>
        <p:nvSpPr>
          <p:cNvPr name="TextBox 11" id="11"/>
          <p:cNvSpPr txBox="true"/>
          <p:nvPr/>
        </p:nvSpPr>
        <p:spPr>
          <a:xfrm rot="0">
            <a:off x="3649299" y="2099849"/>
            <a:ext cx="13435260" cy="2709545"/>
          </a:xfrm>
          <a:prstGeom prst="rect">
            <a:avLst/>
          </a:prstGeom>
        </p:spPr>
        <p:txBody>
          <a:bodyPr anchor="t" rtlCol="false" tIns="0" lIns="0" bIns="0" rIns="0">
            <a:spAutoFit/>
          </a:bodyPr>
          <a:lstStyle/>
          <a:p>
            <a:pPr algn="l">
              <a:lnSpc>
                <a:spcPts val="4200"/>
              </a:lnSpc>
            </a:pPr>
            <a:r>
              <a:rPr lang="en-US" sz="3000">
                <a:solidFill>
                  <a:srgbClr val="000000"/>
                </a:solidFill>
                <a:latin typeface="Canva Sans"/>
              </a:rPr>
              <a:t>Due to time constraints, actual simulation results of LSTM implementation were not obtained.However, preliminary evaluation of the model showed promising performance based on the following values for loss functions.</a:t>
            </a:r>
          </a:p>
          <a:p>
            <a:pPr algn="l">
              <a:lnSpc>
                <a:spcPts val="475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2190278" y="55428"/>
            <a:ext cx="10176144" cy="10176144"/>
            <a:chOff x="0" y="0"/>
            <a:chExt cx="1913890" cy="1913890"/>
          </a:xfrm>
        </p:grpSpPr>
        <p:sp>
          <p:nvSpPr>
            <p:cNvPr name="Freeform 3" id="3"/>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2B4A9D"/>
            </a:solidFill>
          </p:spPr>
        </p:sp>
      </p:grpSp>
      <p:grpSp>
        <p:nvGrpSpPr>
          <p:cNvPr name="Group 4" id="4"/>
          <p:cNvGrpSpPr/>
          <p:nvPr/>
        </p:nvGrpSpPr>
        <p:grpSpPr>
          <a:xfrm rot="2700000">
            <a:off x="12628620" y="445887"/>
            <a:ext cx="9395227" cy="9395227"/>
            <a:chOff x="0" y="0"/>
            <a:chExt cx="1913890" cy="1913890"/>
          </a:xfrm>
        </p:grpSpPr>
        <p:sp>
          <p:nvSpPr>
            <p:cNvPr name="Freeform 5" id="5"/>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FFFFFF"/>
            </a:solidFill>
          </p:spPr>
        </p:sp>
      </p:grpSp>
      <p:grpSp>
        <p:nvGrpSpPr>
          <p:cNvPr name="Group 6" id="6"/>
          <p:cNvGrpSpPr/>
          <p:nvPr/>
        </p:nvGrpSpPr>
        <p:grpSpPr>
          <a:xfrm rot="2700000">
            <a:off x="11524419" y="8043030"/>
            <a:ext cx="6164339" cy="6164339"/>
            <a:chOff x="0" y="0"/>
            <a:chExt cx="1913890" cy="1913890"/>
          </a:xfrm>
        </p:grpSpPr>
        <p:sp>
          <p:nvSpPr>
            <p:cNvPr name="Freeform 7" id="7"/>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grpSp>
        <p:nvGrpSpPr>
          <p:cNvPr name="Group 8" id="8"/>
          <p:cNvGrpSpPr/>
          <p:nvPr/>
        </p:nvGrpSpPr>
        <p:grpSpPr>
          <a:xfrm rot="2700000">
            <a:off x="9885217" y="-3916946"/>
            <a:ext cx="6164339" cy="6164339"/>
            <a:chOff x="0" y="0"/>
            <a:chExt cx="1913890" cy="1913890"/>
          </a:xfrm>
        </p:grpSpPr>
        <p:sp>
          <p:nvSpPr>
            <p:cNvPr name="Freeform 9" id="9"/>
            <p:cNvSpPr/>
            <p:nvPr/>
          </p:nvSpPr>
          <p:spPr>
            <a:xfrm flipH="false" flipV="false" rot="0">
              <a:off x="0" y="0"/>
              <a:ext cx="1913890" cy="1913890"/>
            </a:xfrm>
            <a:custGeom>
              <a:avLst/>
              <a:gdLst/>
              <a:ahLst/>
              <a:cxnLst/>
              <a:rect r="r" b="b" t="t" l="l"/>
              <a:pathLst>
                <a:path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2B4A9D"/>
            </a:solidFill>
          </p:spPr>
        </p:sp>
      </p:grpSp>
      <p:grpSp>
        <p:nvGrpSpPr>
          <p:cNvPr name="Group 10" id="10"/>
          <p:cNvGrpSpPr/>
          <p:nvPr/>
        </p:nvGrpSpPr>
        <p:grpSpPr>
          <a:xfrm rot="-5400000">
            <a:off x="4167381" y="-3410109"/>
            <a:ext cx="2054714" cy="10028483"/>
            <a:chOff x="0" y="0"/>
            <a:chExt cx="2354580" cy="11492046"/>
          </a:xfrm>
        </p:grpSpPr>
        <p:sp>
          <p:nvSpPr>
            <p:cNvPr name="Freeform 11" id="11"/>
            <p:cNvSpPr/>
            <p:nvPr/>
          </p:nvSpPr>
          <p:spPr>
            <a:xfrm flipH="false" flipV="false" rot="0">
              <a:off x="0" y="0"/>
              <a:ext cx="2353310" cy="11492046"/>
            </a:xfrm>
            <a:custGeom>
              <a:avLst/>
              <a:gdLst/>
              <a:ahLst/>
              <a:cxnLst/>
              <a:rect r="r" b="b" t="t" l="l"/>
              <a:pathLst>
                <a:path h="11492046" w="2353310">
                  <a:moveTo>
                    <a:pt x="784860" y="11424736"/>
                  </a:moveTo>
                  <a:cubicBezTo>
                    <a:pt x="905510" y="11465376"/>
                    <a:pt x="1042670" y="11492046"/>
                    <a:pt x="1177290" y="11492046"/>
                  </a:cubicBezTo>
                  <a:cubicBezTo>
                    <a:pt x="1311910" y="11492046"/>
                    <a:pt x="1441450" y="11469186"/>
                    <a:pt x="1560830" y="11428546"/>
                  </a:cubicBezTo>
                  <a:cubicBezTo>
                    <a:pt x="1563370" y="11427276"/>
                    <a:pt x="1565910" y="11427276"/>
                    <a:pt x="1568450" y="11426006"/>
                  </a:cubicBezTo>
                  <a:cubicBezTo>
                    <a:pt x="2016760" y="11263446"/>
                    <a:pt x="2346960" y="10834186"/>
                    <a:pt x="2353310" y="10306003"/>
                  </a:cubicBezTo>
                  <a:lnTo>
                    <a:pt x="2353310" y="0"/>
                  </a:lnTo>
                  <a:lnTo>
                    <a:pt x="0" y="0"/>
                  </a:lnTo>
                  <a:lnTo>
                    <a:pt x="0" y="10298100"/>
                  </a:lnTo>
                  <a:cubicBezTo>
                    <a:pt x="6350" y="10836726"/>
                    <a:pt x="331470" y="11265986"/>
                    <a:pt x="784860" y="11424736"/>
                  </a:cubicBezTo>
                  <a:close/>
                </a:path>
              </a:pathLst>
            </a:custGeom>
            <a:solidFill>
              <a:srgbClr val="2B4A9D"/>
            </a:solidFill>
          </p:spPr>
        </p:sp>
      </p:grpSp>
      <p:sp>
        <p:nvSpPr>
          <p:cNvPr name="TextBox 12" id="12"/>
          <p:cNvSpPr txBox="true"/>
          <p:nvPr/>
        </p:nvSpPr>
        <p:spPr>
          <a:xfrm rot="0">
            <a:off x="-442844" y="817443"/>
            <a:ext cx="9486447" cy="1695450"/>
          </a:xfrm>
          <a:prstGeom prst="rect">
            <a:avLst/>
          </a:prstGeom>
        </p:spPr>
        <p:txBody>
          <a:bodyPr anchor="t" rtlCol="false" tIns="0" lIns="0" bIns="0" rIns="0">
            <a:spAutoFit/>
          </a:bodyPr>
          <a:lstStyle/>
          <a:p>
            <a:pPr algn="ctr">
              <a:lnSpc>
                <a:spcPts val="6300"/>
              </a:lnSpc>
            </a:pPr>
            <a:r>
              <a:rPr lang="en-US" sz="6000" spc="300">
                <a:solidFill>
                  <a:srgbClr val="FFFFFF"/>
                </a:solidFill>
                <a:latin typeface="Poppins Ultra-Bold"/>
              </a:rPr>
              <a:t>CONCLUSION AND FUTURE WORK </a:t>
            </a:r>
          </a:p>
        </p:txBody>
      </p:sp>
      <p:sp>
        <p:nvSpPr>
          <p:cNvPr name="Freeform 13" id="13"/>
          <p:cNvSpPr/>
          <p:nvPr/>
        </p:nvSpPr>
        <p:spPr>
          <a:xfrm flipH="false" flipV="false" rot="0">
            <a:off x="14264736" y="4019370"/>
            <a:ext cx="2693994" cy="2248260"/>
          </a:xfrm>
          <a:custGeom>
            <a:avLst/>
            <a:gdLst/>
            <a:ahLst/>
            <a:cxnLst/>
            <a:rect r="r" b="b" t="t" l="l"/>
            <a:pathLst>
              <a:path h="2248260" w="2693994">
                <a:moveTo>
                  <a:pt x="0" y="0"/>
                </a:moveTo>
                <a:lnTo>
                  <a:pt x="2693994" y="0"/>
                </a:lnTo>
                <a:lnTo>
                  <a:pt x="2693994" y="2248260"/>
                </a:lnTo>
                <a:lnTo>
                  <a:pt x="0" y="22482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80497" y="2969986"/>
            <a:ext cx="11275341" cy="77812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rPr>
              <a:t>Artificial Neural Network (ANN) outperforms traditional Direct Torque Control (DTC) method for torque estimation.</a:t>
            </a:r>
          </a:p>
          <a:p>
            <a:pPr algn="l" marL="734059" indent="-367030" lvl="1">
              <a:lnSpc>
                <a:spcPts val="4759"/>
              </a:lnSpc>
              <a:buFont typeface="Arial"/>
              <a:buChar char="•"/>
            </a:pPr>
            <a:r>
              <a:rPr lang="en-US" sz="3399">
                <a:solidFill>
                  <a:srgbClr val="000000"/>
                </a:solidFill>
                <a:latin typeface="Canva Sans"/>
              </a:rPr>
              <a:t>ANN excels in learning from data and rapidly adjusting its estimates.</a:t>
            </a:r>
          </a:p>
          <a:p>
            <a:pPr algn="l" marL="734059" indent="-367030" lvl="1">
              <a:lnSpc>
                <a:spcPts val="4759"/>
              </a:lnSpc>
              <a:buFont typeface="Arial"/>
              <a:buChar char="•"/>
            </a:pPr>
            <a:r>
              <a:rPr lang="en-US" sz="3399">
                <a:solidFill>
                  <a:srgbClr val="000000"/>
                </a:solidFill>
                <a:latin typeface="Canva Sans"/>
              </a:rPr>
              <a:t>Although Long Short-Term Memory (LSTM) shows even better performance, time constraints led to the selection of ANN.</a:t>
            </a:r>
          </a:p>
          <a:p>
            <a:pPr algn="l" marL="734059" indent="-367030" lvl="1">
              <a:lnSpc>
                <a:spcPts val="4759"/>
              </a:lnSpc>
              <a:buFont typeface="Arial"/>
              <a:buChar char="•"/>
            </a:pPr>
            <a:r>
              <a:rPr lang="en-US" sz="3399">
                <a:solidFill>
                  <a:srgbClr val="000000"/>
                </a:solidFill>
                <a:latin typeface="Canva Sans"/>
              </a:rPr>
              <a:t>Further experimentation and validation are recommended to fully assess the performance and applicability of the LSTM model in the given context.</a:t>
            </a:r>
          </a:p>
          <a:p>
            <a:pPr algn="l">
              <a:lnSpc>
                <a:spcPts val="4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DAGEw3z3lzk</dc:identifier>
  <dcterms:modified xsi:type="dcterms:W3CDTF">2011-08-01T06:04:30Z</dcterms:modified>
  <cp:revision>1</cp:revision>
  <dc:title>Intelligent Control of AC Servo-motor Using Neural Network </dc:title>
</cp:coreProperties>
</file>